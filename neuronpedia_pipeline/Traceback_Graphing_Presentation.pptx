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I'll present our Traceback Graphing project, which is a new method for identifying information bottlenecks inside large language models. We use Neuronpedia's Circuit Tracer API to extract attribution graphs, then apply a novel backward-BFS algorithm to find the critical features that control model predictions. I'll walk through our pipeline, show key findings across two models, and discuss where we're headed next.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central question is: why do language models fail on facts they clearly 'know'? GEMMA can answer 'Paris is capital of' correctly at 85.7%, but rephrase it as 'Capital of France is' and accuracy drops to 20.7%. Same factual knowledge, different syntactic frame. Our hypothesis is that information bottleneck features inside the network filter content at specific layers. If the bottleneck is too early, semantic information like geographic facts gets discarded. If it's later, facts survive. Our approach traces attribution paths backward from the output to find these bottlenecks.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analyze two open-weight models: GEMMA-2-2B from Google with 26 layers and QWEN3-4B from Alibaba with 36 layers. We run the same prompts through both models and compare their internal circuits. Prompts span geography, arithmetic, and politics. Data comes from Neuronpedia's Circuit Tracer API, which returns SAE-decoded feature activations and edges. Our novel contribution is the Traceback BFS algorithm that traces paths backward from output nodes to find bottleneck features. We also use Louvain community detection for supernodes and betweenness centrality.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our end-to-end pipeline. Step 1 calls Neuronpedia's API with a text prompt and model selection, returning a raw attribution graph. Step 2 converts this to our standardized format. Step 3a applies Louvain clustering and betweenness centrality for supernode detection and initial bottleneck identification. Step 3b -- our novel contribution -- runs backward BFS from output nodes with geometric decay scoring. This traces all paths back to the input and identifies where they converge. Step 4 generates 8 diagnostic visualizations. The whole pipeline runs in about 30 seconds per prompt, limited by the API call. Every artifact is version-controlled.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core methodological contribution. Traditional interpretability asks 'which input tokens matter?' We ask 'which intermediate features control the output?' The algorithm starts from the top-K highest-activation output nodes and traces backward through all edges using BFS. Each step multiplies the parent score by edge weight raised to 0.8 -- this geometric decay prevents score explosion while preserving relative importance. The key insight is convergence: when ALL backward paths pass through a single node, that's your bottleneck. We validated by running traceback from both the top-5 AND bottom-5 output nodes -- they converge on the exact same bottleneck feature, confirming the model uses one shared circuit for all predictions, not separate per-token pathways.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detail for each pipeline step. Step 1 queries Neuronpedia's Circuit Tracer API. We validate the returned graph has expected node and edge counts. Step 2 normalizes the token format across models -- GEMMA uses raw tokens while QWEN prepends special tokens. We also validate edge integrity: every edge must connect existing nodes. Step 3a runs Louvain community detection for supernodes and betweenness centrality for initial bottleneck identification. It also fetches human-readable feature descriptions from Neuronpedia. Step 3b is our novel traceback -- backward BFS with geometric decay from the top-5 output nodes. Step 4 generates all 8 visualization types. Each step writes a versioned artifact to the prompt's data directory.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we've produced. On the data side: 10+ prompt variations fully analyzed through both models, generating over 80 visualization PNGs and structured JSON artifacts. The code is a 5-script automated pipeline with a centralized PathManager that ensures consistent file organization and reproducibility. On the research side, we have a 6,800-word scientific paper draft ready for formatting, plus detailed case studies on the Southern State prompt, the Token Attribution validation, and our Semantic Taxonomy methodology for classifying features. Quantitative tables include prediction probabilities, bottleneck positions, and convergence rates across all experiments.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strongest finding. On the Southern State prompt, GEMMA's bottleneck occurs at Layer 5 -- only 19% into the network. All 5 traceback paths converge on a single feature at this layer with 100% convergence. This early compression filters out geographic semantic information, so the model predicts ' home' at 10.5% instead of the correct answer. QWEN's bottleneck is at Layer 12 -- 33% depth. This preserves enough factual content to predict ' Florida' at 78.1%, a 27x improvement. This strongly supports our hypothesis: bottleneck position is a key architectural parameter that determines factual accuracy. Models with later bottlenecks retain more semantic information through the critical compression point.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second major finding. When we examine which features fire for 'Paris is the capital of', 79 out of 80 top features are syntactic -- they encode articles, punctuation, connective structures. Zero features directly encode Paris or France as geographic entities. The model is doing template matching: it learns the syntactic frame 'X is capital of Y' and fills in the slot. This explains the prompt sensitivity: when you say 'Paris is capital of', it matches the template and gets 85.7%. But 'Capital of France is' breaks the template and accuracy drops to 20.7%. Same factual knowledge, but the syntactic frame determines whether it can be accessed. This is a fundamental insight about how factual recall works -- or fails -- in these models.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tested the Token Attribution Hypothesis: do different output tokens use different internal circuits? We ran traceback from the top-5 highest-activation output nodes -- which correspond to the model's top predictions -- and separately from the bottom-5. If the hypothesis were correct, they should trace back through different pathways. Instead, both sets converge on the exact same bottleneck feature with 100% overlap. This refutes the hypothesis and tells us the model uses a single shared universal circuit that computes the entire probability distribution. The practical implication is that you cannot selectively boost one prediction by targeting its 'unique' pathway -- there is no unique pathway. Any intervention affects the entire distribution.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caveats. First, our attribution is linear -- we trace edge weights that represent linear contributions. Non-linear interactions from LayerNorm and attention softmax are approximated, not captured exactly. Second, SAE reconstruction is about 90% faithful -- so roughly 10% of information isn't captured in the feature decomposition. Some features may also be polysemantic, encoding multiple concepts simultaneously. Third, while we've tested 10+ prompts, deep traceback analysis has been done on about 5 prompts per model. We need broader prompt diversity. Fourth, and most importantly, our bottleneck identification is correlational. We haven't yet done ablation experiments to prove these bottlenecks are causally necessary. That's what validation is addressing.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we're doing right now for validation. On the algorithm side, we're running multi-algorithm comparisons: our traceback BFS against betweenness centrality and PageRank. We compute Jaccard similarity between the critical node sets identified by each method. If traceback and centrality agree on the same bottlenecks, that's strong convergent evidence. We've already completed this for 3 prompts with visualizations. On the semantic side, we're building a taxonomy to classify features as SYNTAX vs SEMANTICS with sub-categories. The acceptance criterion is inter-rater reliability kappa above 0.7. This will let us quantify exactly what percentage of semantic vs syntactic information passes through each bottleneck layer. Annotation is in progress.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roadmap. Weeks 1-2: finish validation. Complete the semantic taxonomy for the top 100 features so we can quantify what passes through bottlenecks. Finish QWEN traceback analysis on remaining prompts. Build a comprehensive cross-prompt comparison table showing bottleneck positions across all experiments. Weeks 3-4: causal experiments. The critical test: ablate the bottleneck feature -- zero it out -- and measure whether accuracy on geographic prompts actually changes. Also try amplifying geographic features at the layer just before the bottleneck. And estimate mutual information to quantify how much information is lost at each bottleneck. Ongoing: expand to more prompt categories -- code generation, multi-hop reasoning. Test a larger model like Llama-3 8B. And format the paper draft for a workshop submission.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have four asks for the group. First, validation criteria: is inter-rater kappa above 0.7 sufficient for the semantic taxonomy? And what Jaccard similarity threshold should we require for algorithm agreement? Second, when we move to ablation experiments, should we focus on single-feature ablation -- zeroing out one bottleneck node -- or full path ablation where we knock out the entire bottleneck pathway? And which prompts should we test first? Third, submission target: we could aim for a workshop paper at NeurIPS Mechanistic Interpretability workshop in about 4 weeks, or a full paper at ICLR which would take 8-12 weeks. The paper draft is at 6,800 words, close to workshop length already. Fourth, ablation experiments need GPU access for model inference. And extending to Llama-3 may require additional API access. I'd appreciate guidance on all four points. Thank you!</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you're short on time, this one slide captures everything. We built an automated pipeline that identifies information bottlenecks inside language models. Our novel traceback algorithm finds where attribution paths converge. Three key findings: bottleneck position determines accuracy with a 27x difference between models, factual recall is dominated by syntactic template matching not semantic knowledge, and all output tokens share a single universal circuit. We're currently validating these findings with multi-algorithm comparison and semantic feature classification. Next we'll run causal ablation experiments. I need the group's input on validation criteria, experiment priorities, submission target, and compute resources.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28600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058400" cy="1097280"/>
          </a:xfrm>
          <a:prstGeom prst="rect">
            <a:avLst/>
          </a:prstGeom>
          <a:noFill/>
        </p:spPr>
        <p:txBody>
          <a:bodyPr wrap="none">
            <a:spAutoFit/>
          </a:bodyPr>
          <a:lstStyle/>
          <a:p>
            <a:pPr>
              <a:defRPr sz="3200" b="1">
                <a:solidFill>
                  <a:srgbClr val="FFFFFF"/>
                </a:solidFill>
                <a:latin typeface="Calibri"/>
              </a:defRPr>
            </a:pPr>
            <a:r>
              <a:t>Traceback Graphing: Identifying Information</a:t>
            </a:r>
          </a:p>
          <a:p>
            <a:pPr>
              <a:defRPr sz="3200" b="1">
                <a:solidFill>
                  <a:srgbClr val="FFFFFF"/>
                </a:solidFill>
                <a:latin typeface="Calibri"/>
              </a:defRPr>
            </a:pPr>
            <a:r>
              <a:t>Bottlenecks in LLM Attribution Circuits</a:t>
            </a:r>
          </a:p>
        </p:txBody>
      </p:sp>
      <p:sp>
        <p:nvSpPr>
          <p:cNvPr id="4" name="TextBox 3"/>
          <p:cNvSpPr txBox="1"/>
          <p:nvPr/>
        </p:nvSpPr>
        <p:spPr>
          <a:xfrm>
            <a:off x="731520" y="1737360"/>
            <a:ext cx="10058400" cy="457200"/>
          </a:xfrm>
          <a:prstGeom prst="rect">
            <a:avLst/>
          </a:prstGeom>
          <a:noFill/>
        </p:spPr>
        <p:txBody>
          <a:bodyPr wrap="none">
            <a:spAutoFit/>
          </a:bodyPr>
          <a:lstStyle/>
          <a:p>
            <a:pPr>
              <a:defRPr sz="1800">
                <a:solidFill>
                  <a:srgbClr val="C8E6C9"/>
                </a:solidFill>
                <a:latin typeface="Calibri"/>
              </a:defRPr>
            </a:pPr>
            <a:r>
              <a:t>Mechanistic Interpretability via Neuronpedia Circuit Tracer</a:t>
            </a:r>
          </a:p>
        </p:txBody>
      </p:sp>
      <p:sp>
        <p:nvSpPr>
          <p:cNvPr id="5" name="TextBox 4"/>
          <p:cNvSpPr txBox="1"/>
          <p:nvPr/>
        </p:nvSpPr>
        <p:spPr>
          <a:xfrm>
            <a:off x="731520" y="2926080"/>
            <a:ext cx="4572000" cy="1371600"/>
          </a:xfrm>
          <a:prstGeom prst="rect">
            <a:avLst/>
          </a:prstGeom>
          <a:noFill/>
        </p:spPr>
        <p:txBody>
          <a:bodyPr wrap="none">
            <a:spAutoFit/>
          </a:bodyPr>
          <a:lstStyle/>
          <a:p>
            <a:pPr>
              <a:defRPr sz="2000" b="1">
                <a:solidFill>
                  <a:srgbClr val="212121"/>
                </a:solidFill>
                <a:latin typeface="Calibri"/>
              </a:defRPr>
            </a:pPr>
            <a:r>
              <a:t>J. Lawrence</a:t>
            </a:r>
          </a:p>
          <a:p>
            <a:pPr>
              <a:defRPr sz="1400">
                <a:solidFill>
                  <a:srgbClr val="616161"/>
                </a:solidFill>
                <a:latin typeface="Calibri"/>
              </a:defRPr>
            </a:pPr>
            <a:r>
              <a:t>Lab Meeting  |  February 10, 2026</a:t>
            </a:r>
          </a:p>
          <a:p>
            <a:pPr>
              <a:defRPr sz="1400">
                <a:solidFill>
                  <a:srgbClr val="616161"/>
                </a:solidFill>
                <a:latin typeface="Calibri"/>
              </a:defRPr>
            </a:pPr>
            <a:r>
              <a:t>CUNY Graduate Center / Hunter College</a:t>
            </a:r>
          </a:p>
        </p:txBody>
      </p:sp>
      <p:sp>
        <p:nvSpPr>
          <p:cNvPr id="6" name="TextBox 5"/>
          <p:cNvSpPr txBox="1"/>
          <p:nvPr/>
        </p:nvSpPr>
        <p:spPr>
          <a:xfrm>
            <a:off x="10515600" y="6492240"/>
            <a:ext cx="1371600" cy="274320"/>
          </a:xfrm>
          <a:prstGeom prst="rect">
            <a:avLst/>
          </a:prstGeom>
          <a:noFill/>
        </p:spPr>
        <p:txBody>
          <a:bodyPr wrap="none">
            <a:spAutoFit/>
          </a:bodyPr>
          <a:lstStyle/>
          <a:p>
            <a:pPr algn="r">
              <a:defRPr sz="1000">
                <a:solidFill>
                  <a:srgbClr val="616161"/>
                </a:solidFill>
                <a:latin typeface="Calibri"/>
              </a:defRPr>
            </a:pPr>
            <a:r>
              <a:t>1 / 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91440"/>
          <a:lstStyle/>
          <a:p>
            <a:pPr algn="l">
              <a:defRPr sz="1600" b="1">
                <a:solidFill>
                  <a:srgbClr val="FFFFFF"/>
                </a:solidFill>
                <a:latin typeface="Calibri"/>
              </a:defRPr>
            </a:pPr>
            <a:r>
              <a:t>  Bottleneck position determines what information survives to the output layer</a:t>
            </a:r>
          </a:p>
        </p:txBody>
      </p:sp>
      <p:sp>
        <p:nvSpPr>
          <p:cNvPr id="3" name="TextBox 2"/>
          <p:cNvSpPr txBox="1"/>
          <p:nvPr/>
        </p:nvSpPr>
        <p:spPr>
          <a:xfrm>
            <a:off x="457200" y="685800"/>
            <a:ext cx="10972800" cy="548640"/>
          </a:xfrm>
          <a:prstGeom prst="rect">
            <a:avLst/>
          </a:prstGeom>
          <a:noFill/>
        </p:spPr>
        <p:txBody>
          <a:bodyPr wrap="none">
            <a:spAutoFit/>
          </a:bodyPr>
          <a:lstStyle/>
          <a:p>
            <a:pPr>
              <a:defRPr sz="2800" b="1">
                <a:solidFill>
                  <a:srgbClr val="212121"/>
                </a:solidFill>
                <a:latin typeface="Calibri"/>
              </a:defRPr>
            </a:pPr>
            <a:r>
              <a:t>The Big Question</a:t>
            </a:r>
          </a:p>
        </p:txBody>
      </p:sp>
      <p:sp>
        <p:nvSpPr>
          <p:cNvPr id="4" name="TextBox 3"/>
          <p:cNvSpPr txBox="1"/>
          <p:nvPr/>
        </p:nvSpPr>
        <p:spPr>
          <a:xfrm>
            <a:off x="457200" y="1371600"/>
            <a:ext cx="10972800" cy="4572000"/>
          </a:xfrm>
          <a:prstGeom prst="rect">
            <a:avLst/>
          </a:prstGeom>
          <a:noFill/>
        </p:spPr>
        <p:txBody>
          <a:bodyPr wrap="square">
            <a:spAutoFit/>
          </a:bodyPr>
          <a:lstStyle/>
          <a:p>
            <a:pPr>
              <a:spcAft>
                <a:spcPts val="800"/>
              </a:spcAft>
              <a:defRPr sz="1600" b="0">
                <a:solidFill>
                  <a:srgbClr val="212121"/>
                </a:solidFill>
                <a:latin typeface="Calibri"/>
              </a:defRPr>
            </a:pPr>
            <a:r>
              <a:t>WHY do LLMs fail on facts they 'know'?</a:t>
            </a:r>
          </a:p>
          <a:p>
            <a:pPr lvl="1">
              <a:spcAft>
                <a:spcPts val="800"/>
              </a:spcAft>
              <a:defRPr sz="1400">
                <a:solidFill>
                  <a:srgbClr val="616161"/>
                </a:solidFill>
                <a:latin typeface="Calibri"/>
              </a:defRPr>
            </a:pPr>
            <a:r>
              <a:t>GEMMA-2-2B: 'Paris is capital of' -&gt; 'France' (85.7%)</a:t>
            </a:r>
          </a:p>
          <a:p>
            <a:pPr lvl="1">
              <a:spcAft>
                <a:spcPts val="800"/>
              </a:spcAft>
              <a:defRPr sz="1400">
                <a:solidFill>
                  <a:srgbClr val="616161"/>
                </a:solidFill>
                <a:latin typeface="Calibri"/>
              </a:defRPr>
            </a:pPr>
            <a:r>
              <a:t>GEMMA-2-2B: 'Capital of France is' -&gt; 'a' (20.7%)  -- same fact, wrong answer</a:t>
            </a:r>
          </a:p>
          <a:p>
            <a:pPr>
              <a:spcAft>
                <a:spcPts val="800"/>
              </a:spcAft>
              <a:defRPr sz="1600" b="0">
                <a:solidFill>
                  <a:srgbClr val="212121"/>
                </a:solidFill>
                <a:latin typeface="Calibri"/>
              </a:defRPr>
            </a:pPr>
          </a:p>
          <a:p>
            <a:pPr>
              <a:spcAft>
                <a:spcPts val="800"/>
              </a:spcAft>
              <a:defRPr sz="1600" b="0">
                <a:solidFill>
                  <a:srgbClr val="212121"/>
                </a:solidFill>
                <a:latin typeface="Calibri"/>
              </a:defRPr>
            </a:pPr>
            <a:r>
              <a:t>Hypothesis: internal bottleneck features filter information</a:t>
            </a:r>
          </a:p>
          <a:p>
            <a:pPr lvl="1">
              <a:spcAft>
                <a:spcPts val="800"/>
              </a:spcAft>
              <a:defRPr sz="1400">
                <a:solidFill>
                  <a:srgbClr val="616161"/>
                </a:solidFill>
                <a:latin typeface="Calibri"/>
              </a:defRPr>
            </a:pPr>
            <a:r>
              <a:t>Early bottlenecks discard semantics, keeping only syntax</a:t>
            </a:r>
          </a:p>
          <a:p>
            <a:pPr lvl="1">
              <a:spcAft>
                <a:spcPts val="800"/>
              </a:spcAft>
              <a:defRPr sz="1400">
                <a:solidFill>
                  <a:srgbClr val="616161"/>
                </a:solidFill>
                <a:latin typeface="Calibri"/>
              </a:defRPr>
            </a:pPr>
            <a:r>
              <a:t>Late bottlenecks preserve more factual content</a:t>
            </a:r>
          </a:p>
          <a:p>
            <a:pPr>
              <a:spcAft>
                <a:spcPts val="800"/>
              </a:spcAft>
              <a:defRPr sz="1600" b="0">
                <a:solidFill>
                  <a:srgbClr val="212121"/>
                </a:solidFill>
                <a:latin typeface="Calibri"/>
              </a:defRPr>
            </a:pPr>
          </a:p>
          <a:p>
            <a:pPr>
              <a:spcAft>
                <a:spcPts val="800"/>
              </a:spcAft>
              <a:defRPr sz="1600" b="0">
                <a:solidFill>
                  <a:srgbClr val="212121"/>
                </a:solidFill>
                <a:latin typeface="Calibri"/>
              </a:defRPr>
            </a:pPr>
            <a:r>
              <a:t>Approach: trace attribution paths backward from output</a:t>
            </a:r>
          </a:p>
          <a:p>
            <a:pPr lvl="1">
              <a:spcAft>
                <a:spcPts val="800"/>
              </a:spcAft>
              <a:defRPr sz="1400">
                <a:solidFill>
                  <a:srgbClr val="616161"/>
                </a:solidFill>
                <a:latin typeface="Calibri"/>
              </a:defRPr>
            </a:pPr>
            <a:r>
              <a:t>Identify WHERE convergence occurs = the bottleneck layer</a:t>
            </a:r>
          </a:p>
          <a:p>
            <a:pPr lvl="1">
              <a:spcAft>
                <a:spcPts val="800"/>
              </a:spcAft>
              <a:defRPr sz="1400">
                <a:solidFill>
                  <a:srgbClr val="616161"/>
                </a:solidFill>
                <a:latin typeface="Calibri"/>
              </a:defRPr>
            </a:pPr>
            <a:r>
              <a:t>Classify WHAT survives = syntax vs. semantics</a:t>
            </a:r>
          </a:p>
        </p:txBody>
      </p:sp>
      <p:sp>
        <p:nvSpPr>
          <p:cNvPr id="5" name="TextBox 4"/>
          <p:cNvSpPr txBox="1"/>
          <p:nvPr/>
        </p:nvSpPr>
        <p:spPr>
          <a:xfrm>
            <a:off x="10515600" y="6492240"/>
            <a:ext cx="1371600" cy="274320"/>
          </a:xfrm>
          <a:prstGeom prst="rect">
            <a:avLst/>
          </a:prstGeom>
          <a:noFill/>
        </p:spPr>
        <p:txBody>
          <a:bodyPr wrap="none">
            <a:spAutoFit/>
          </a:bodyPr>
          <a:lstStyle/>
          <a:p>
            <a:pPr algn="r">
              <a:defRPr sz="1000">
                <a:solidFill>
                  <a:srgbClr val="616161"/>
                </a:solidFill>
                <a:latin typeface="Calibri"/>
              </a:defRPr>
            </a:pPr>
            <a:r>
              <a:t>2 / 14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91440"/>
          <a:lstStyle/>
          <a:p>
            <a:pPr algn="l">
              <a:defRPr sz="1600" b="1">
                <a:solidFill>
                  <a:srgbClr val="FFFFFF"/>
                </a:solidFill>
                <a:latin typeface="Calibri"/>
              </a:defRPr>
            </a:pPr>
            <a:r>
              <a:t>  Two models, 10+ prompts, automated end-to-end pipeline</a:t>
            </a:r>
          </a:p>
        </p:txBody>
      </p:sp>
      <p:sp>
        <p:nvSpPr>
          <p:cNvPr id="3" name="TextBox 2"/>
          <p:cNvSpPr txBox="1"/>
          <p:nvPr/>
        </p:nvSpPr>
        <p:spPr>
          <a:xfrm>
            <a:off x="457200" y="685800"/>
            <a:ext cx="10972800" cy="548640"/>
          </a:xfrm>
          <a:prstGeom prst="rect">
            <a:avLst/>
          </a:prstGeom>
          <a:noFill/>
        </p:spPr>
        <p:txBody>
          <a:bodyPr wrap="none">
            <a:spAutoFit/>
          </a:bodyPr>
          <a:lstStyle/>
          <a:p>
            <a:pPr>
              <a:defRPr sz="2800" b="1">
                <a:solidFill>
                  <a:srgbClr val="212121"/>
                </a:solidFill>
                <a:latin typeface="Calibri"/>
              </a:defRPr>
            </a:pPr>
            <a:r>
              <a:t>Experimental Overview</a:t>
            </a:r>
          </a:p>
        </p:txBody>
      </p:sp>
      <p:sp>
        <p:nvSpPr>
          <p:cNvPr id="4" name="TextBox 3"/>
          <p:cNvSpPr txBox="1"/>
          <p:nvPr/>
        </p:nvSpPr>
        <p:spPr>
          <a:xfrm>
            <a:off x="457200" y="1371600"/>
            <a:ext cx="5303520" cy="4572000"/>
          </a:xfrm>
          <a:prstGeom prst="rect">
            <a:avLst/>
          </a:prstGeom>
          <a:noFill/>
        </p:spPr>
        <p:txBody>
          <a:bodyPr wrap="square">
            <a:spAutoFit/>
          </a:bodyPr>
          <a:lstStyle/>
          <a:p>
            <a:pPr>
              <a:spcAft>
                <a:spcPts val="800"/>
              </a:spcAft>
              <a:defRPr sz="1500" b="0">
                <a:solidFill>
                  <a:srgbClr val="212121"/>
                </a:solidFill>
                <a:latin typeface="Calibri"/>
              </a:defRPr>
            </a:pPr>
            <a:r>
              <a:t>Models</a:t>
            </a:r>
          </a:p>
          <a:p>
            <a:pPr lvl="1">
              <a:spcAft>
                <a:spcPts val="800"/>
              </a:spcAft>
              <a:defRPr sz="1300">
                <a:solidFill>
                  <a:srgbClr val="616161"/>
                </a:solidFill>
                <a:latin typeface="Calibri"/>
              </a:defRPr>
            </a:pPr>
            <a:r>
              <a:t>GEMMA-2-2B (26 layers, Google)</a:t>
            </a:r>
          </a:p>
          <a:p>
            <a:pPr lvl="1">
              <a:spcAft>
                <a:spcPts val="800"/>
              </a:spcAft>
              <a:defRPr sz="1300">
                <a:solidFill>
                  <a:srgbClr val="616161"/>
                </a:solidFill>
                <a:latin typeface="Calibri"/>
              </a:defRPr>
            </a:pPr>
            <a:r>
              <a:t>QWEN3-4B (36 layers, Alibaba)</a:t>
            </a:r>
          </a:p>
          <a:p>
            <a:pPr>
              <a:spcAft>
                <a:spcPts val="800"/>
              </a:spcAft>
              <a:defRPr sz="1500" b="0">
                <a:solidFill>
                  <a:srgbClr val="212121"/>
                </a:solidFill>
                <a:latin typeface="Calibri"/>
              </a:defRPr>
            </a:pPr>
          </a:p>
          <a:p>
            <a:pPr>
              <a:spcAft>
                <a:spcPts val="800"/>
              </a:spcAft>
              <a:defRPr sz="1500" b="0">
                <a:solidFill>
                  <a:srgbClr val="212121"/>
                </a:solidFill>
                <a:latin typeface="Calibri"/>
              </a:defRPr>
            </a:pPr>
            <a:r>
              <a:t>Prompt Categories</a:t>
            </a:r>
          </a:p>
          <a:p>
            <a:pPr lvl="1">
              <a:spcAft>
                <a:spcPts val="800"/>
              </a:spcAft>
              <a:defRPr sz="1300">
                <a:solidFill>
                  <a:srgbClr val="616161"/>
                </a:solidFill>
                <a:latin typeface="Calibri"/>
              </a:defRPr>
            </a:pPr>
            <a:r>
              <a:t>Geographic: capitals, states, cities</a:t>
            </a:r>
          </a:p>
          <a:p>
            <a:pPr lvl="1">
              <a:spcAft>
                <a:spcPts val="800"/>
              </a:spcAft>
              <a:defRPr sz="1300">
                <a:solidFill>
                  <a:srgbClr val="616161"/>
                </a:solidFill>
                <a:latin typeface="Calibri"/>
              </a:defRPr>
            </a:pPr>
            <a:r>
              <a:t>Arithmetic: addition, temperature</a:t>
            </a:r>
          </a:p>
          <a:p>
            <a:pPr lvl="1">
              <a:spcAft>
                <a:spcPts val="800"/>
              </a:spcAft>
              <a:defRPr sz="1300">
                <a:solidFill>
                  <a:srgbClr val="616161"/>
                </a:solidFill>
                <a:latin typeface="Calibri"/>
              </a:defRPr>
            </a:pPr>
            <a:r>
              <a:t>Political: president, governor</a:t>
            </a:r>
          </a:p>
        </p:txBody>
      </p:sp>
      <p:sp>
        <p:nvSpPr>
          <p:cNvPr id="5" name="TextBox 4"/>
          <p:cNvSpPr txBox="1"/>
          <p:nvPr/>
        </p:nvSpPr>
        <p:spPr>
          <a:xfrm>
            <a:off x="6217920" y="1371600"/>
            <a:ext cx="5303520" cy="4572000"/>
          </a:xfrm>
          <a:prstGeom prst="rect">
            <a:avLst/>
          </a:prstGeom>
          <a:noFill/>
        </p:spPr>
        <p:txBody>
          <a:bodyPr wrap="square">
            <a:spAutoFit/>
          </a:bodyPr>
          <a:lstStyle/>
          <a:p>
            <a:pPr>
              <a:spcAft>
                <a:spcPts val="800"/>
              </a:spcAft>
              <a:defRPr sz="1500" b="0">
                <a:solidFill>
                  <a:srgbClr val="212121"/>
                </a:solidFill>
                <a:latin typeface="Calibri"/>
              </a:defRPr>
            </a:pPr>
            <a:r>
              <a:t>Data Source</a:t>
            </a:r>
          </a:p>
          <a:p>
            <a:pPr lvl="1">
              <a:spcAft>
                <a:spcPts val="800"/>
              </a:spcAft>
              <a:defRPr sz="1300">
                <a:solidFill>
                  <a:srgbClr val="616161"/>
                </a:solidFill>
                <a:latin typeface="Calibri"/>
              </a:defRPr>
            </a:pPr>
            <a:r>
              <a:t>Neuronpedia Circuit Tracer API</a:t>
            </a:r>
          </a:p>
          <a:p>
            <a:pPr lvl="1">
              <a:spcAft>
                <a:spcPts val="800"/>
              </a:spcAft>
              <a:defRPr sz="1300">
                <a:solidFill>
                  <a:srgbClr val="616161"/>
                </a:solidFill>
                <a:latin typeface="Calibri"/>
              </a:defRPr>
            </a:pPr>
            <a:r>
              <a:t>SAE-decoded feature activations</a:t>
            </a:r>
          </a:p>
          <a:p>
            <a:pPr>
              <a:spcAft>
                <a:spcPts val="800"/>
              </a:spcAft>
              <a:defRPr sz="1500" b="0">
                <a:solidFill>
                  <a:srgbClr val="212121"/>
                </a:solidFill>
                <a:latin typeface="Calibri"/>
              </a:defRPr>
            </a:pPr>
          </a:p>
          <a:p>
            <a:pPr>
              <a:spcAft>
                <a:spcPts val="800"/>
              </a:spcAft>
              <a:defRPr sz="1500" b="0">
                <a:solidFill>
                  <a:srgbClr val="212121"/>
                </a:solidFill>
                <a:latin typeface="Calibri"/>
              </a:defRPr>
            </a:pPr>
            <a:r>
              <a:t>Analysis Methods</a:t>
            </a:r>
          </a:p>
          <a:p>
            <a:pPr lvl="1">
              <a:spcAft>
                <a:spcPts val="800"/>
              </a:spcAft>
              <a:defRPr sz="1300">
                <a:solidFill>
                  <a:srgbClr val="616161"/>
                </a:solidFill>
                <a:latin typeface="Calibri"/>
              </a:defRPr>
            </a:pPr>
            <a:r>
              <a:t>Traceback BFS (novel -- our method)</a:t>
            </a:r>
          </a:p>
          <a:p>
            <a:pPr lvl="1">
              <a:spcAft>
                <a:spcPts val="800"/>
              </a:spcAft>
              <a:defRPr sz="1300">
                <a:solidFill>
                  <a:srgbClr val="616161"/>
                </a:solidFill>
                <a:latin typeface="Calibri"/>
              </a:defRPr>
            </a:pPr>
            <a:r>
              <a:t>Louvain clustering for supernodes</a:t>
            </a:r>
          </a:p>
          <a:p>
            <a:pPr lvl="1">
              <a:spcAft>
                <a:spcPts val="800"/>
              </a:spcAft>
              <a:defRPr sz="1300">
                <a:solidFill>
                  <a:srgbClr val="616161"/>
                </a:solidFill>
                <a:latin typeface="Calibri"/>
              </a:defRPr>
            </a:pPr>
            <a:r>
              <a:t>Betweenness centrality for bottlenecks</a:t>
            </a:r>
          </a:p>
        </p:txBody>
      </p:sp>
      <p:sp>
        <p:nvSpPr>
          <p:cNvPr id="6" name="TextBox 5"/>
          <p:cNvSpPr txBox="1"/>
          <p:nvPr/>
        </p:nvSpPr>
        <p:spPr>
          <a:xfrm>
            <a:off x="10515600" y="6492240"/>
            <a:ext cx="1371600" cy="274320"/>
          </a:xfrm>
          <a:prstGeom prst="rect">
            <a:avLst/>
          </a:prstGeom>
          <a:noFill/>
        </p:spPr>
        <p:txBody>
          <a:bodyPr wrap="none">
            <a:spAutoFit/>
          </a:bodyPr>
          <a:lstStyle/>
          <a:p>
            <a:pPr algn="r">
              <a:defRPr sz="1000">
                <a:solidFill>
                  <a:srgbClr val="616161"/>
                </a:solidFill>
                <a:latin typeface="Calibri"/>
              </a:defRPr>
            </a:pPr>
            <a:r>
              <a:t>3 / 14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91440"/>
          <a:lstStyle/>
          <a:p>
            <a:pPr algn="l">
              <a:defRPr sz="1600" b="1">
                <a:solidFill>
                  <a:srgbClr val="FFFFFF"/>
                </a:solidFill>
                <a:latin typeface="Calibri"/>
              </a:defRPr>
            </a:pPr>
            <a:r>
              <a:t>  Fully automated: prompt in -&gt; bottleneck analysis + visualizations out</a:t>
            </a:r>
          </a:p>
        </p:txBody>
      </p:sp>
      <p:sp>
        <p:nvSpPr>
          <p:cNvPr id="3" name="TextBox 2"/>
          <p:cNvSpPr txBox="1"/>
          <p:nvPr/>
        </p:nvSpPr>
        <p:spPr>
          <a:xfrm>
            <a:off x="457200" y="685800"/>
            <a:ext cx="10972800" cy="548640"/>
          </a:xfrm>
          <a:prstGeom prst="rect">
            <a:avLst/>
          </a:prstGeom>
          <a:noFill/>
        </p:spPr>
        <p:txBody>
          <a:bodyPr wrap="none">
            <a:spAutoFit/>
          </a:bodyPr>
          <a:lstStyle/>
          <a:p>
            <a:pPr>
              <a:defRPr sz="2800" b="1">
                <a:solidFill>
                  <a:srgbClr val="212121"/>
                </a:solidFill>
                <a:latin typeface="Calibri"/>
              </a:defRPr>
            </a:pPr>
            <a:r>
              <a:t>End-to-End Pipeline</a:t>
            </a:r>
          </a:p>
        </p:txBody>
      </p:sp>
      <p:sp>
        <p:nvSpPr>
          <p:cNvPr id="4" name="Rounded Rectangle 3"/>
          <p:cNvSpPr/>
          <p:nvPr/>
        </p:nvSpPr>
        <p:spPr>
          <a:xfrm>
            <a:off x="457200" y="1828800"/>
            <a:ext cx="1828800" cy="1097280"/>
          </a:xfrm>
          <a:prstGeom prst="round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latin typeface="Calibri"/>
              </a:defRPr>
            </a:pPr>
            <a:r>
              <a:t>1. Generate</a:t>
            </a:r>
            <a:br/>
            <a:r>
              <a:t>Graph</a:t>
            </a:r>
          </a:p>
        </p:txBody>
      </p:sp>
      <p:sp>
        <p:nvSpPr>
          <p:cNvPr id="5" name="TextBox 4"/>
          <p:cNvSpPr txBox="1"/>
          <p:nvPr/>
        </p:nvSpPr>
        <p:spPr>
          <a:xfrm>
            <a:off x="457200" y="2971800"/>
            <a:ext cx="1828800" cy="457200"/>
          </a:xfrm>
          <a:prstGeom prst="rect">
            <a:avLst/>
          </a:prstGeom>
          <a:noFill/>
        </p:spPr>
        <p:txBody>
          <a:bodyPr wrap="square">
            <a:spAutoFit/>
          </a:bodyPr>
          <a:lstStyle/>
          <a:p>
            <a:pPr algn="ctr">
              <a:defRPr sz="1000">
                <a:solidFill>
                  <a:srgbClr val="616161"/>
                </a:solidFill>
                <a:latin typeface="Calibri"/>
              </a:defRPr>
            </a:pPr>
            <a:r>
              <a:t>API call to</a:t>
            </a:r>
            <a:br/>
            <a:r>
              <a:t>Neuronpedia</a:t>
            </a:r>
          </a:p>
        </p:txBody>
      </p:sp>
      <p:sp>
        <p:nvSpPr>
          <p:cNvPr id="6" name="Right Arrow 5"/>
          <p:cNvSpPr/>
          <p:nvPr/>
        </p:nvSpPr>
        <p:spPr>
          <a:xfrm>
            <a:off x="2286000" y="2286000"/>
            <a:ext cx="320040" cy="182880"/>
          </a:xfrm>
          <a:prstGeom prst="rightArrow">
            <a:avLst/>
          </a:prstGeom>
          <a:solidFill>
            <a:srgbClr val="6161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606040" y="1828800"/>
            <a:ext cx="1828800" cy="1097280"/>
          </a:xfrm>
          <a:prstGeom prst="round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latin typeface="Calibri"/>
              </a:defRPr>
            </a:pPr>
            <a:r>
              <a:t>2. Convert</a:t>
            </a:r>
            <a:br/>
            <a:r>
              <a:t>Graph</a:t>
            </a:r>
          </a:p>
        </p:txBody>
      </p:sp>
      <p:sp>
        <p:nvSpPr>
          <p:cNvPr id="8" name="TextBox 7"/>
          <p:cNvSpPr txBox="1"/>
          <p:nvPr/>
        </p:nvSpPr>
        <p:spPr>
          <a:xfrm>
            <a:off x="2606040" y="2971800"/>
            <a:ext cx="1828800" cy="457200"/>
          </a:xfrm>
          <a:prstGeom prst="rect">
            <a:avLst/>
          </a:prstGeom>
          <a:noFill/>
        </p:spPr>
        <p:txBody>
          <a:bodyPr wrap="square">
            <a:spAutoFit/>
          </a:bodyPr>
          <a:lstStyle/>
          <a:p>
            <a:pPr algn="ctr">
              <a:defRPr sz="1000">
                <a:solidFill>
                  <a:srgbClr val="616161"/>
                </a:solidFill>
                <a:latin typeface="Calibri"/>
              </a:defRPr>
            </a:pPr>
            <a:r>
              <a:t>Standardize</a:t>
            </a:r>
            <a:br/>
            <a:r>
              <a:t>format</a:t>
            </a:r>
          </a:p>
        </p:txBody>
      </p:sp>
      <p:sp>
        <p:nvSpPr>
          <p:cNvPr id="9" name="Right Arrow 8"/>
          <p:cNvSpPr/>
          <p:nvPr/>
        </p:nvSpPr>
        <p:spPr>
          <a:xfrm>
            <a:off x="4434840" y="2286000"/>
            <a:ext cx="320040" cy="182880"/>
          </a:xfrm>
          <a:prstGeom prst="rightArrow">
            <a:avLst/>
          </a:prstGeom>
          <a:solidFill>
            <a:srgbClr val="6161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754880" y="1828800"/>
            <a:ext cx="1828800" cy="1097280"/>
          </a:xfrm>
          <a:prstGeom prst="round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latin typeface="Calibri"/>
              </a:defRPr>
            </a:pPr>
            <a:r>
              <a:t>3a. Analyze</a:t>
            </a:r>
            <a:br/>
            <a:r>
              <a:t>Circuit</a:t>
            </a:r>
          </a:p>
        </p:txBody>
      </p:sp>
      <p:sp>
        <p:nvSpPr>
          <p:cNvPr id="11" name="TextBox 10"/>
          <p:cNvSpPr txBox="1"/>
          <p:nvPr/>
        </p:nvSpPr>
        <p:spPr>
          <a:xfrm>
            <a:off x="4754880" y="2971800"/>
            <a:ext cx="1828800" cy="457200"/>
          </a:xfrm>
          <a:prstGeom prst="rect">
            <a:avLst/>
          </a:prstGeom>
          <a:noFill/>
        </p:spPr>
        <p:txBody>
          <a:bodyPr wrap="square">
            <a:spAutoFit/>
          </a:bodyPr>
          <a:lstStyle/>
          <a:p>
            <a:pPr algn="ctr">
              <a:defRPr sz="1000">
                <a:solidFill>
                  <a:srgbClr val="616161"/>
                </a:solidFill>
                <a:latin typeface="Calibri"/>
              </a:defRPr>
            </a:pPr>
            <a:r>
              <a:t>Supernodes +</a:t>
            </a:r>
            <a:br/>
            <a:r>
              <a:t>bottlenecks</a:t>
            </a:r>
          </a:p>
        </p:txBody>
      </p:sp>
      <p:sp>
        <p:nvSpPr>
          <p:cNvPr id="12" name="Right Arrow 11"/>
          <p:cNvSpPr/>
          <p:nvPr/>
        </p:nvSpPr>
        <p:spPr>
          <a:xfrm>
            <a:off x="6583680" y="2286000"/>
            <a:ext cx="320040" cy="182880"/>
          </a:xfrm>
          <a:prstGeom prst="rightArrow">
            <a:avLst/>
          </a:prstGeom>
          <a:solidFill>
            <a:srgbClr val="6161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903720" y="1828800"/>
            <a:ext cx="1828800" cy="1097280"/>
          </a:xfrm>
          <a:prstGeom prst="round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latin typeface="Calibri"/>
              </a:defRPr>
            </a:pPr>
            <a:r>
              <a:t>3b. Traceback</a:t>
            </a:r>
            <a:br/>
            <a:r>
              <a:t>Paths</a:t>
            </a:r>
          </a:p>
        </p:txBody>
      </p:sp>
      <p:sp>
        <p:nvSpPr>
          <p:cNvPr id="14" name="TextBox 13"/>
          <p:cNvSpPr txBox="1"/>
          <p:nvPr/>
        </p:nvSpPr>
        <p:spPr>
          <a:xfrm>
            <a:off x="6903720" y="2971800"/>
            <a:ext cx="1828800" cy="457200"/>
          </a:xfrm>
          <a:prstGeom prst="rect">
            <a:avLst/>
          </a:prstGeom>
          <a:noFill/>
        </p:spPr>
        <p:txBody>
          <a:bodyPr wrap="square">
            <a:spAutoFit/>
          </a:bodyPr>
          <a:lstStyle/>
          <a:p>
            <a:pPr algn="ctr">
              <a:defRPr sz="1000">
                <a:solidFill>
                  <a:srgbClr val="616161"/>
                </a:solidFill>
                <a:latin typeface="Calibri"/>
              </a:defRPr>
            </a:pPr>
            <a:r>
              <a:t>Backward BFS</a:t>
            </a:r>
            <a:br/>
            <a:r>
              <a:t>(NOVEL)</a:t>
            </a:r>
          </a:p>
        </p:txBody>
      </p:sp>
      <p:sp>
        <p:nvSpPr>
          <p:cNvPr id="15" name="Right Arrow 14"/>
          <p:cNvSpPr/>
          <p:nvPr/>
        </p:nvSpPr>
        <p:spPr>
          <a:xfrm>
            <a:off x="8732520" y="2286000"/>
            <a:ext cx="320040" cy="182880"/>
          </a:xfrm>
          <a:prstGeom prst="rightArrow">
            <a:avLst/>
          </a:prstGeom>
          <a:solidFill>
            <a:srgbClr val="6161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052560" y="1828800"/>
            <a:ext cx="1828800" cy="1097280"/>
          </a:xfrm>
          <a:prstGeom prst="round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latin typeface="Calibri"/>
              </a:defRPr>
            </a:pPr>
            <a:r>
              <a:t>4. Visualize</a:t>
            </a:r>
          </a:p>
        </p:txBody>
      </p:sp>
      <p:sp>
        <p:nvSpPr>
          <p:cNvPr id="17" name="TextBox 16"/>
          <p:cNvSpPr txBox="1"/>
          <p:nvPr/>
        </p:nvSpPr>
        <p:spPr>
          <a:xfrm>
            <a:off x="9052560" y="2971800"/>
            <a:ext cx="1828800" cy="457200"/>
          </a:xfrm>
          <a:prstGeom prst="rect">
            <a:avLst/>
          </a:prstGeom>
          <a:noFill/>
        </p:spPr>
        <p:txBody>
          <a:bodyPr wrap="square">
            <a:spAutoFit/>
          </a:bodyPr>
          <a:lstStyle/>
          <a:p>
            <a:pPr algn="ctr">
              <a:defRPr sz="1000">
                <a:solidFill>
                  <a:srgbClr val="616161"/>
                </a:solidFill>
                <a:latin typeface="Calibri"/>
              </a:defRPr>
            </a:pPr>
            <a:r>
              <a:t>8 diagnostic</a:t>
            </a:r>
            <a:br/>
            <a:r>
              <a:t>plots</a:t>
            </a:r>
          </a:p>
        </p:txBody>
      </p:sp>
      <p:sp>
        <p:nvSpPr>
          <p:cNvPr id="18" name="TextBox 17"/>
          <p:cNvSpPr txBox="1"/>
          <p:nvPr/>
        </p:nvSpPr>
        <p:spPr>
          <a:xfrm>
            <a:off x="457200" y="3840480"/>
            <a:ext cx="10972800" cy="4572000"/>
          </a:xfrm>
          <a:prstGeom prst="rect">
            <a:avLst/>
          </a:prstGeom>
          <a:noFill/>
        </p:spPr>
        <p:txBody>
          <a:bodyPr wrap="square">
            <a:spAutoFit/>
          </a:bodyPr>
          <a:lstStyle/>
          <a:p>
            <a:pPr>
              <a:spcAft>
                <a:spcPts val="800"/>
              </a:spcAft>
              <a:defRPr sz="1300" b="0">
                <a:solidFill>
                  <a:srgbClr val="212121"/>
                </a:solidFill>
                <a:latin typeface="Calibri"/>
              </a:defRPr>
            </a:pPr>
            <a:r>
              <a:t>Outputs per prompt: raw_graph.json | converted_graph.json | circuit_analysis.json | traceback_paths.json | 8 PNGs</a:t>
            </a:r>
          </a:p>
          <a:p>
            <a:pPr>
              <a:spcAft>
                <a:spcPts val="800"/>
              </a:spcAft>
              <a:defRPr sz="1300" b="0">
                <a:solidFill>
                  <a:srgbClr val="212121"/>
                </a:solidFill>
                <a:latin typeface="Calibri"/>
              </a:defRPr>
            </a:pPr>
            <a:r>
              <a:t>Runtime: ~30 seconds end-to-end per prompt (API-bound)</a:t>
            </a:r>
          </a:p>
          <a:p>
            <a:pPr>
              <a:spcAft>
                <a:spcPts val="800"/>
              </a:spcAft>
              <a:defRPr sz="1300" b="0">
                <a:solidFill>
                  <a:srgbClr val="212121"/>
                </a:solidFill>
                <a:latin typeface="Calibri"/>
              </a:defRPr>
            </a:pPr>
            <a:r>
              <a:t>All artifacts version-controlled in data/prompts/&lt;prompt-name&gt;/</a:t>
            </a:r>
          </a:p>
        </p:txBody>
      </p:sp>
      <p:sp>
        <p:nvSpPr>
          <p:cNvPr id="19" name="TextBox 18"/>
          <p:cNvSpPr txBox="1"/>
          <p:nvPr/>
        </p:nvSpPr>
        <p:spPr>
          <a:xfrm>
            <a:off x="10515600" y="6492240"/>
            <a:ext cx="1371600" cy="274320"/>
          </a:xfrm>
          <a:prstGeom prst="rect">
            <a:avLst/>
          </a:prstGeom>
          <a:noFill/>
        </p:spPr>
        <p:txBody>
          <a:bodyPr wrap="none">
            <a:spAutoFit/>
          </a:bodyPr>
          <a:lstStyle/>
          <a:p>
            <a:pPr algn="r">
              <a:defRPr sz="1000">
                <a:solidFill>
                  <a:srgbClr val="616161"/>
                </a:solidFill>
                <a:latin typeface="Calibri"/>
              </a:defRPr>
            </a:pPr>
            <a:r>
              <a:t>4 / 14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91440"/>
          <a:lstStyle/>
          <a:p>
            <a:pPr algn="l">
              <a:defRPr sz="1600" b="1">
                <a:solidFill>
                  <a:srgbClr val="FFFFFF"/>
                </a:solidFill>
                <a:latin typeface="Calibri"/>
              </a:defRPr>
            </a:pPr>
            <a:r>
              <a:t>  Novel backward-BFS identifies convergence points = information bottlenecks</a:t>
            </a:r>
          </a:p>
        </p:txBody>
      </p:sp>
      <p:sp>
        <p:nvSpPr>
          <p:cNvPr id="3" name="TextBox 2"/>
          <p:cNvSpPr txBox="1"/>
          <p:nvPr/>
        </p:nvSpPr>
        <p:spPr>
          <a:xfrm>
            <a:off x="457200" y="685800"/>
            <a:ext cx="10972800" cy="548640"/>
          </a:xfrm>
          <a:prstGeom prst="rect">
            <a:avLst/>
          </a:prstGeom>
          <a:noFill/>
        </p:spPr>
        <p:txBody>
          <a:bodyPr wrap="none">
            <a:spAutoFit/>
          </a:bodyPr>
          <a:lstStyle/>
          <a:p>
            <a:pPr>
              <a:defRPr sz="2800" b="1">
                <a:solidFill>
                  <a:srgbClr val="212121"/>
                </a:solidFill>
                <a:latin typeface="Calibri"/>
              </a:defRPr>
            </a:pPr>
            <a:r>
              <a:t>Traceback Algorithm (Novel Method)</a:t>
            </a:r>
          </a:p>
        </p:txBody>
      </p:sp>
      <p:sp>
        <p:nvSpPr>
          <p:cNvPr id="4" name="TextBox 3"/>
          <p:cNvSpPr txBox="1"/>
          <p:nvPr/>
        </p:nvSpPr>
        <p:spPr>
          <a:xfrm>
            <a:off x="457200" y="1371600"/>
            <a:ext cx="5303520" cy="4572000"/>
          </a:xfrm>
          <a:prstGeom prst="rect">
            <a:avLst/>
          </a:prstGeom>
          <a:noFill/>
        </p:spPr>
        <p:txBody>
          <a:bodyPr wrap="square">
            <a:spAutoFit/>
          </a:bodyPr>
          <a:lstStyle/>
          <a:p>
            <a:pPr>
              <a:spcAft>
                <a:spcPts val="800"/>
              </a:spcAft>
              <a:defRPr sz="1500" b="0">
                <a:solidFill>
                  <a:srgbClr val="212121"/>
                </a:solidFill>
                <a:latin typeface="Calibri"/>
              </a:defRPr>
            </a:pPr>
            <a:r>
              <a:t>Algorithm</a:t>
            </a:r>
          </a:p>
          <a:p>
            <a:pPr lvl="1">
              <a:spcAft>
                <a:spcPts val="800"/>
              </a:spcAft>
              <a:defRPr sz="1300">
                <a:solidFill>
                  <a:srgbClr val="616161"/>
                </a:solidFill>
                <a:latin typeface="Calibri"/>
              </a:defRPr>
            </a:pPr>
            <a:r>
              <a:t>Start from top-K output-layer nodes</a:t>
            </a:r>
          </a:p>
          <a:p>
            <a:pPr lvl="1">
              <a:spcAft>
                <a:spcPts val="800"/>
              </a:spcAft>
              <a:defRPr sz="1300">
                <a:solidFill>
                  <a:srgbClr val="616161"/>
                </a:solidFill>
                <a:latin typeface="Calibri"/>
              </a:defRPr>
            </a:pPr>
            <a:r>
              <a:t>BFS backward through edges</a:t>
            </a:r>
          </a:p>
          <a:p>
            <a:pPr lvl="1">
              <a:spcAft>
                <a:spcPts val="800"/>
              </a:spcAft>
              <a:defRPr sz="1300">
                <a:solidFill>
                  <a:srgbClr val="616161"/>
                </a:solidFill>
                <a:latin typeface="Calibri"/>
              </a:defRPr>
            </a:pPr>
            <a:r>
              <a:t>Score(child) = Score(parent) * |edge_weight|^0.8</a:t>
            </a:r>
          </a:p>
          <a:p>
            <a:pPr lvl="1">
              <a:spcAft>
                <a:spcPts val="800"/>
              </a:spcAft>
              <a:defRPr sz="1300">
                <a:solidFill>
                  <a:srgbClr val="616161"/>
                </a:solidFill>
                <a:latin typeface="Calibri"/>
              </a:defRPr>
            </a:pPr>
            <a:r>
              <a:t>Geometric decay prevents explosion</a:t>
            </a:r>
          </a:p>
          <a:p>
            <a:pPr>
              <a:spcAft>
                <a:spcPts val="800"/>
              </a:spcAft>
              <a:defRPr sz="1500" b="0">
                <a:solidFill>
                  <a:srgbClr val="212121"/>
                </a:solidFill>
                <a:latin typeface="Calibri"/>
              </a:defRPr>
            </a:pPr>
          </a:p>
          <a:p>
            <a:pPr>
              <a:spcAft>
                <a:spcPts val="800"/>
              </a:spcAft>
              <a:defRPr sz="1500" b="0">
                <a:solidFill>
                  <a:srgbClr val="212121"/>
                </a:solidFill>
                <a:latin typeface="Calibri"/>
              </a:defRPr>
            </a:pPr>
            <a:r>
              <a:t>Key Metric: Convergence</a:t>
            </a:r>
          </a:p>
          <a:p>
            <a:pPr lvl="1">
              <a:spcAft>
                <a:spcPts val="800"/>
              </a:spcAft>
              <a:defRPr sz="1300">
                <a:solidFill>
                  <a:srgbClr val="616161"/>
                </a:solidFill>
                <a:latin typeface="Calibri"/>
              </a:defRPr>
            </a:pPr>
            <a:r>
              <a:t>100% of paths through 1 node = bottleneck</a:t>
            </a:r>
          </a:p>
          <a:p>
            <a:pPr lvl="1">
              <a:spcAft>
                <a:spcPts val="800"/>
              </a:spcAft>
              <a:defRPr sz="1300">
                <a:solidFill>
                  <a:srgbClr val="616161"/>
                </a:solidFill>
                <a:latin typeface="Calibri"/>
              </a:defRPr>
            </a:pPr>
            <a:r>
              <a:t>Convergence layer = decision point</a:t>
            </a:r>
          </a:p>
        </p:txBody>
      </p:sp>
      <p:sp>
        <p:nvSpPr>
          <p:cNvPr id="5" name="TextBox 4"/>
          <p:cNvSpPr txBox="1"/>
          <p:nvPr/>
        </p:nvSpPr>
        <p:spPr>
          <a:xfrm>
            <a:off x="6217920" y="1371600"/>
            <a:ext cx="5303520" cy="4572000"/>
          </a:xfrm>
          <a:prstGeom prst="rect">
            <a:avLst/>
          </a:prstGeom>
          <a:noFill/>
        </p:spPr>
        <p:txBody>
          <a:bodyPr wrap="square">
            <a:spAutoFit/>
          </a:bodyPr>
          <a:lstStyle/>
          <a:p>
            <a:pPr>
              <a:spcAft>
                <a:spcPts val="800"/>
              </a:spcAft>
              <a:defRPr sz="1500" b="0">
                <a:solidFill>
                  <a:srgbClr val="212121"/>
                </a:solidFill>
                <a:latin typeface="Calibri"/>
              </a:defRPr>
            </a:pPr>
            <a:r>
              <a:t>Why Backward (not Forward)?</a:t>
            </a:r>
          </a:p>
          <a:p>
            <a:pPr lvl="1">
              <a:spcAft>
                <a:spcPts val="800"/>
              </a:spcAft>
              <a:defRPr sz="1300">
                <a:solidFill>
                  <a:srgbClr val="616161"/>
                </a:solidFill>
                <a:latin typeface="Calibri"/>
              </a:defRPr>
            </a:pPr>
            <a:r>
              <a:t>Forward: exponential branching</a:t>
            </a:r>
          </a:p>
          <a:p>
            <a:pPr lvl="1">
              <a:spcAft>
                <a:spcPts val="800"/>
              </a:spcAft>
              <a:defRPr sz="1300">
                <a:solidFill>
                  <a:srgbClr val="616161"/>
                </a:solidFill>
                <a:latin typeface="Calibri"/>
              </a:defRPr>
            </a:pPr>
            <a:r>
              <a:t>Backward: converges naturally</a:t>
            </a:r>
          </a:p>
          <a:p>
            <a:pPr lvl="1">
              <a:spcAft>
                <a:spcPts val="800"/>
              </a:spcAft>
              <a:defRPr sz="1300">
                <a:solidFill>
                  <a:srgbClr val="616161"/>
                </a:solidFill>
                <a:latin typeface="Calibri"/>
              </a:defRPr>
            </a:pPr>
            <a:r>
              <a:t>Finds minimal sufficient set</a:t>
            </a:r>
          </a:p>
          <a:p>
            <a:pPr>
              <a:spcAft>
                <a:spcPts val="800"/>
              </a:spcAft>
              <a:defRPr sz="1500" b="0">
                <a:solidFill>
                  <a:srgbClr val="212121"/>
                </a:solidFill>
                <a:latin typeface="Calibri"/>
              </a:defRPr>
            </a:pPr>
          </a:p>
          <a:p>
            <a:pPr>
              <a:spcAft>
                <a:spcPts val="800"/>
              </a:spcAft>
              <a:defRPr sz="1500" b="0">
                <a:solidFill>
                  <a:srgbClr val="212121"/>
                </a:solidFill>
                <a:latin typeface="Calibri"/>
              </a:defRPr>
            </a:pPr>
            <a:r>
              <a:t>Validation</a:t>
            </a:r>
          </a:p>
          <a:p>
            <a:pPr lvl="1">
              <a:spcAft>
                <a:spcPts val="800"/>
              </a:spcAft>
              <a:defRPr sz="1300">
                <a:solidFill>
                  <a:srgbClr val="616161"/>
                </a:solidFill>
                <a:latin typeface="Calibri"/>
              </a:defRPr>
            </a:pPr>
            <a:r>
              <a:t>Top-5 vs bottom-5 output nodes</a:t>
            </a:r>
          </a:p>
          <a:p>
            <a:pPr lvl="1">
              <a:spcAft>
                <a:spcPts val="800"/>
              </a:spcAft>
              <a:defRPr sz="1300">
                <a:solidFill>
                  <a:srgbClr val="616161"/>
                </a:solidFill>
                <a:latin typeface="Calibri"/>
              </a:defRPr>
            </a:pPr>
            <a:r>
              <a:t>Both converge to SAME bottleneck</a:t>
            </a:r>
          </a:p>
          <a:p>
            <a:pPr lvl="1">
              <a:spcAft>
                <a:spcPts val="800"/>
              </a:spcAft>
              <a:defRPr sz="1300">
                <a:solidFill>
                  <a:srgbClr val="616161"/>
                </a:solidFill>
                <a:latin typeface="Calibri"/>
              </a:defRPr>
            </a:pPr>
            <a:r>
              <a:t>Confirms: shared universal circuit</a:t>
            </a:r>
          </a:p>
        </p:txBody>
      </p:sp>
      <p:sp>
        <p:nvSpPr>
          <p:cNvPr id="6" name="Rectangle 5"/>
          <p:cNvSpPr/>
          <p:nvPr/>
        </p:nvSpPr>
        <p:spPr>
          <a:xfrm>
            <a:off x="3200400" y="4754880"/>
            <a:ext cx="5486400" cy="1645920"/>
          </a:xfrm>
          <a:prstGeom prst="rect">
            <a:avLst/>
          </a:prstGeom>
          <a:solidFill>
            <a:srgbClr val="E8F5E9"/>
          </a:solidFill>
          <a:ln w="19050">
            <a:solidFill>
              <a:srgbClr val="4CAF50"/>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720"/>
              </a:spcBef>
              <a:defRPr sz="1100" i="1">
                <a:solidFill>
                  <a:srgbClr val="1B5E20"/>
                </a:solidFill>
                <a:latin typeface="Calibri"/>
              </a:defRPr>
            </a:pPr>
            <a:r>
              <a:t>[INSERT: Traceback path diagram showing</a:t>
            </a:r>
            <a:br/>
            <a:r>
              <a:t>convergence from 5 output nodes to 1 bottleneck]</a:t>
            </a:r>
          </a:p>
        </p:txBody>
      </p:sp>
      <p:sp>
        <p:nvSpPr>
          <p:cNvPr id="7" name="TextBox 6"/>
          <p:cNvSpPr txBox="1"/>
          <p:nvPr/>
        </p:nvSpPr>
        <p:spPr>
          <a:xfrm>
            <a:off x="10515600" y="6492240"/>
            <a:ext cx="1371600" cy="274320"/>
          </a:xfrm>
          <a:prstGeom prst="rect">
            <a:avLst/>
          </a:prstGeom>
          <a:noFill/>
        </p:spPr>
        <p:txBody>
          <a:bodyPr wrap="none">
            <a:spAutoFit/>
          </a:bodyPr>
          <a:lstStyle/>
          <a:p>
            <a:pPr algn="r">
              <a:defRPr sz="1000">
                <a:solidFill>
                  <a:srgbClr val="616161"/>
                </a:solidFill>
                <a:latin typeface="Calibri"/>
              </a:defRPr>
            </a:pPr>
            <a:r>
              <a:t>5 / 14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91440"/>
          <a:lstStyle/>
          <a:p>
            <a:pPr algn="l">
              <a:defRPr sz="1600" b="1">
                <a:solidFill>
                  <a:srgbClr val="FFFFFF"/>
                </a:solidFill>
                <a:latin typeface="Calibri"/>
              </a:defRPr>
            </a:pPr>
            <a:r>
              <a:t>  Each step has clear inputs, QC checks, and versioned output artifacts</a:t>
            </a:r>
          </a:p>
        </p:txBody>
      </p:sp>
      <p:sp>
        <p:nvSpPr>
          <p:cNvPr id="3" name="TextBox 2"/>
          <p:cNvSpPr txBox="1"/>
          <p:nvPr/>
        </p:nvSpPr>
        <p:spPr>
          <a:xfrm>
            <a:off x="457200" y="685800"/>
            <a:ext cx="10972800" cy="548640"/>
          </a:xfrm>
          <a:prstGeom prst="rect">
            <a:avLst/>
          </a:prstGeom>
          <a:noFill/>
        </p:spPr>
        <p:txBody>
          <a:bodyPr wrap="none">
            <a:spAutoFit/>
          </a:bodyPr>
          <a:lstStyle/>
          <a:p>
            <a:pPr>
              <a:defRPr sz="2800" b="1">
                <a:solidFill>
                  <a:srgbClr val="212121"/>
                </a:solidFill>
                <a:latin typeface="Calibri"/>
              </a:defRPr>
            </a:pPr>
            <a:r>
              <a:t>Pipeline Step Details</a:t>
            </a:r>
          </a:p>
        </p:txBody>
      </p:sp>
      <p:graphicFrame>
        <p:nvGraphicFramePr>
          <p:cNvPr id="4" name="Table 3"/>
          <p:cNvGraphicFramePr>
            <a:graphicFrameLocks noGrp="1"/>
          </p:cNvGraphicFramePr>
          <p:nvPr/>
        </p:nvGraphicFramePr>
        <p:xfrm>
          <a:off x="457200" y="1371600"/>
          <a:ext cx="10972800" cy="3657600"/>
        </p:xfrm>
        <a:graphic>
          <a:graphicData uri="http://schemas.openxmlformats.org/drawingml/2006/table">
            <a:tbl>
              <a:tblPr firstRow="1" bandRow="1">
                <a:tableStyleId>{5C22544A-7EE6-4342-B048-85BDC9FD1C3A}</a:tableStyleId>
              </a:tblPr>
              <a:tblGrid>
                <a:gridCol w="1645920"/>
                <a:gridCol w="2286000"/>
                <a:gridCol w="3840480"/>
                <a:gridCol w="3200400"/>
              </a:tblGrid>
              <a:tr h="609600">
                <a:tc>
                  <a:txBody>
                    <a:bodyPr/>
                    <a:lstStyle/>
                    <a:p>
                      <a:pPr>
                        <a:defRPr sz="1300" b="1">
                          <a:solidFill>
                            <a:srgbClr val="FFFFFF"/>
                          </a:solidFill>
                          <a:latin typeface="Calibri"/>
                        </a:defRPr>
                      </a:pPr>
                      <a:r>
                        <a:t>Step</a:t>
                      </a:r>
                    </a:p>
                  </a:txBody>
                  <a:tcPr>
                    <a:solidFill>
                      <a:srgbClr val="1B5E20"/>
                    </a:solidFill>
                  </a:tcPr>
                </a:tc>
                <a:tc>
                  <a:txBody>
                    <a:bodyPr/>
                    <a:lstStyle/>
                    <a:p>
                      <a:pPr>
                        <a:defRPr sz="1300" b="1">
                          <a:solidFill>
                            <a:srgbClr val="FFFFFF"/>
                          </a:solidFill>
                          <a:latin typeface="Calibri"/>
                        </a:defRPr>
                      </a:pPr>
                      <a:r>
                        <a:t>Input</a:t>
                      </a:r>
                    </a:p>
                  </a:txBody>
                  <a:tcPr>
                    <a:solidFill>
                      <a:srgbClr val="1B5E20"/>
                    </a:solidFill>
                  </a:tcPr>
                </a:tc>
                <a:tc>
                  <a:txBody>
                    <a:bodyPr/>
                    <a:lstStyle/>
                    <a:p>
                      <a:pPr>
                        <a:defRPr sz="1300" b="1">
                          <a:solidFill>
                            <a:srgbClr val="FFFFFF"/>
                          </a:solidFill>
                          <a:latin typeface="Calibri"/>
                        </a:defRPr>
                      </a:pPr>
                      <a:r>
                        <a:t>Method / QC</a:t>
                      </a:r>
                    </a:p>
                  </a:txBody>
                  <a:tcPr>
                    <a:solidFill>
                      <a:srgbClr val="1B5E20"/>
                    </a:solidFill>
                  </a:tcPr>
                </a:tc>
                <a:tc>
                  <a:txBody>
                    <a:bodyPr/>
                    <a:lstStyle/>
                    <a:p>
                      <a:pPr>
                        <a:defRPr sz="1300" b="1">
                          <a:solidFill>
                            <a:srgbClr val="FFFFFF"/>
                          </a:solidFill>
                          <a:latin typeface="Calibri"/>
                        </a:defRPr>
                      </a:pPr>
                      <a:r>
                        <a:t>Output Artifact</a:t>
                      </a:r>
                    </a:p>
                  </a:txBody>
                  <a:tcPr>
                    <a:solidFill>
                      <a:srgbClr val="1B5E20"/>
                    </a:solidFill>
                  </a:tcPr>
                </a:tc>
              </a:tr>
              <a:tr h="609600">
                <a:tc>
                  <a:txBody>
                    <a:bodyPr/>
                    <a:lstStyle/>
                    <a:p>
                      <a:pPr>
                        <a:defRPr sz="1200">
                          <a:solidFill>
                            <a:srgbClr val="212121"/>
                          </a:solidFill>
                          <a:latin typeface="Calibri"/>
                        </a:defRPr>
                      </a:pPr>
                      <a:r>
                        <a:t>1. Generate</a:t>
                      </a:r>
                    </a:p>
                  </a:txBody>
                  <a:tcPr>
                    <a:solidFill>
                      <a:srgbClr val="FFFFFF"/>
                    </a:solidFill>
                  </a:tcPr>
                </a:tc>
                <a:tc>
                  <a:txBody>
                    <a:bodyPr/>
                    <a:lstStyle/>
                    <a:p>
                      <a:pPr>
                        <a:defRPr sz="1200">
                          <a:solidFill>
                            <a:srgbClr val="212121"/>
                          </a:solidFill>
                          <a:latin typeface="Calibri"/>
                        </a:defRPr>
                      </a:pPr>
                      <a:r>
                        <a:t>Prompt + model ID</a:t>
                      </a:r>
                    </a:p>
                  </a:txBody>
                  <a:tcPr>
                    <a:solidFill>
                      <a:srgbClr val="FFFFFF"/>
                    </a:solidFill>
                  </a:tcPr>
                </a:tc>
                <a:tc>
                  <a:txBody>
                    <a:bodyPr/>
                    <a:lstStyle/>
                    <a:p>
                      <a:pPr>
                        <a:defRPr sz="1200">
                          <a:solidFill>
                            <a:srgbClr val="212121"/>
                          </a:solidFill>
                          <a:latin typeface="Calibri"/>
                        </a:defRPr>
                      </a:pPr>
                      <a:r>
                        <a:t>API call; verify node/edge counts</a:t>
                      </a:r>
                    </a:p>
                  </a:txBody>
                  <a:tcPr>
                    <a:solidFill>
                      <a:srgbClr val="FFFFFF"/>
                    </a:solidFill>
                  </a:tcPr>
                </a:tc>
                <a:tc>
                  <a:txBody>
                    <a:bodyPr/>
                    <a:lstStyle/>
                    <a:p>
                      <a:pPr>
                        <a:defRPr sz="1200">
                          <a:solidFill>
                            <a:srgbClr val="212121"/>
                          </a:solidFill>
                          <a:latin typeface="Calibri"/>
                        </a:defRPr>
                      </a:pPr>
                      <a:r>
                        <a:t>raw_graph.json + metadata.json</a:t>
                      </a:r>
                    </a:p>
                  </a:txBody>
                  <a:tcPr>
                    <a:solidFill>
                      <a:srgbClr val="FFFFFF"/>
                    </a:solidFill>
                  </a:tcPr>
                </a:tc>
              </a:tr>
              <a:tr h="609600">
                <a:tc>
                  <a:txBody>
                    <a:bodyPr/>
                    <a:lstStyle/>
                    <a:p>
                      <a:pPr>
                        <a:defRPr sz="1200">
                          <a:solidFill>
                            <a:srgbClr val="212121"/>
                          </a:solidFill>
                          <a:latin typeface="Calibri"/>
                        </a:defRPr>
                      </a:pPr>
                      <a:r>
                        <a:t>2. Convert</a:t>
                      </a:r>
                    </a:p>
                  </a:txBody>
                  <a:tcPr>
                    <a:solidFill>
                      <a:srgbClr val="F5F5F5"/>
                    </a:solidFill>
                  </a:tcPr>
                </a:tc>
                <a:tc>
                  <a:txBody>
                    <a:bodyPr/>
                    <a:lstStyle/>
                    <a:p>
                      <a:pPr>
                        <a:defRPr sz="1200">
                          <a:solidFill>
                            <a:srgbClr val="212121"/>
                          </a:solidFill>
                          <a:latin typeface="Calibri"/>
                        </a:defRPr>
                      </a:pPr>
                      <a:r>
                        <a:t>raw_graph.json</a:t>
                      </a:r>
                    </a:p>
                  </a:txBody>
                  <a:tcPr>
                    <a:solidFill>
                      <a:srgbClr val="F5F5F5"/>
                    </a:solidFill>
                  </a:tcPr>
                </a:tc>
                <a:tc>
                  <a:txBody>
                    <a:bodyPr/>
                    <a:lstStyle/>
                    <a:p>
                      <a:pPr>
                        <a:defRPr sz="1200">
                          <a:solidFill>
                            <a:srgbClr val="212121"/>
                          </a:solidFill>
                          <a:latin typeface="Calibri"/>
                        </a:defRPr>
                      </a:pPr>
                      <a:r>
                        <a:t>Normalize tokens; validate edge integrity</a:t>
                      </a:r>
                    </a:p>
                  </a:txBody>
                  <a:tcPr>
                    <a:solidFill>
                      <a:srgbClr val="F5F5F5"/>
                    </a:solidFill>
                  </a:tcPr>
                </a:tc>
                <a:tc>
                  <a:txBody>
                    <a:bodyPr/>
                    <a:lstStyle/>
                    <a:p>
                      <a:pPr>
                        <a:defRPr sz="1200">
                          <a:solidFill>
                            <a:srgbClr val="212121"/>
                          </a:solidFill>
                          <a:latin typeface="Calibri"/>
                        </a:defRPr>
                      </a:pPr>
                      <a:r>
                        <a:t>converted_graph.json</a:t>
                      </a:r>
                    </a:p>
                  </a:txBody>
                  <a:tcPr>
                    <a:solidFill>
                      <a:srgbClr val="F5F5F5"/>
                    </a:solidFill>
                  </a:tcPr>
                </a:tc>
              </a:tr>
              <a:tr h="609600">
                <a:tc>
                  <a:txBody>
                    <a:bodyPr/>
                    <a:lstStyle/>
                    <a:p>
                      <a:pPr>
                        <a:defRPr sz="1200">
                          <a:solidFill>
                            <a:srgbClr val="212121"/>
                          </a:solidFill>
                          <a:latin typeface="Calibri"/>
                        </a:defRPr>
                      </a:pPr>
                      <a:r>
                        <a:t>3a. Analyze</a:t>
                      </a:r>
                    </a:p>
                  </a:txBody>
                  <a:tcPr>
                    <a:solidFill>
                      <a:srgbClr val="FFFFFF"/>
                    </a:solidFill>
                  </a:tcPr>
                </a:tc>
                <a:tc>
                  <a:txBody>
                    <a:bodyPr/>
                    <a:lstStyle/>
                    <a:p>
                      <a:pPr>
                        <a:defRPr sz="1200">
                          <a:solidFill>
                            <a:srgbClr val="212121"/>
                          </a:solidFill>
                          <a:latin typeface="Calibri"/>
                        </a:defRPr>
                      </a:pPr>
                      <a:r>
                        <a:t>converted_graph.json</a:t>
                      </a:r>
                    </a:p>
                  </a:txBody>
                  <a:tcPr>
                    <a:solidFill>
                      <a:srgbClr val="FFFFFF"/>
                    </a:solidFill>
                  </a:tcPr>
                </a:tc>
                <a:tc>
                  <a:txBody>
                    <a:bodyPr/>
                    <a:lstStyle/>
                    <a:p>
                      <a:pPr>
                        <a:defRPr sz="1200">
                          <a:solidFill>
                            <a:srgbClr val="212121"/>
                          </a:solidFill>
                          <a:latin typeface="Calibri"/>
                        </a:defRPr>
                      </a:pPr>
                      <a:r>
                        <a:t>Louvain + centrality; fetch descriptions</a:t>
                      </a:r>
                    </a:p>
                  </a:txBody>
                  <a:tcPr>
                    <a:solidFill>
                      <a:srgbClr val="FFFFFF"/>
                    </a:solidFill>
                  </a:tcPr>
                </a:tc>
                <a:tc>
                  <a:txBody>
                    <a:bodyPr/>
                    <a:lstStyle/>
                    <a:p>
                      <a:pPr>
                        <a:defRPr sz="1200">
                          <a:solidFill>
                            <a:srgbClr val="212121"/>
                          </a:solidFill>
                          <a:latin typeface="Calibri"/>
                        </a:defRPr>
                      </a:pPr>
                      <a:r>
                        <a:t>circuit_analysis.json + supernodes.json</a:t>
                      </a:r>
                    </a:p>
                  </a:txBody>
                  <a:tcPr>
                    <a:solidFill>
                      <a:srgbClr val="FFFFFF"/>
                    </a:solidFill>
                  </a:tcPr>
                </a:tc>
              </a:tr>
              <a:tr h="609600">
                <a:tc>
                  <a:txBody>
                    <a:bodyPr/>
                    <a:lstStyle/>
                    <a:p>
                      <a:pPr>
                        <a:defRPr sz="1200">
                          <a:solidFill>
                            <a:srgbClr val="212121"/>
                          </a:solidFill>
                          <a:latin typeface="Calibri"/>
                        </a:defRPr>
                      </a:pPr>
                      <a:r>
                        <a:t>3b. Traceback</a:t>
                      </a:r>
                    </a:p>
                  </a:txBody>
                  <a:tcPr>
                    <a:solidFill>
                      <a:srgbClr val="F5F5F5"/>
                    </a:solidFill>
                  </a:tcPr>
                </a:tc>
                <a:tc>
                  <a:txBody>
                    <a:bodyPr/>
                    <a:lstStyle/>
                    <a:p>
                      <a:pPr>
                        <a:defRPr sz="1200">
                          <a:solidFill>
                            <a:srgbClr val="212121"/>
                          </a:solidFill>
                          <a:latin typeface="Calibri"/>
                        </a:defRPr>
                      </a:pPr>
                      <a:r>
                        <a:t>converted_graph.json</a:t>
                      </a:r>
                    </a:p>
                  </a:txBody>
                  <a:tcPr>
                    <a:solidFill>
                      <a:srgbClr val="F5F5F5"/>
                    </a:solidFill>
                  </a:tcPr>
                </a:tc>
                <a:tc>
                  <a:txBody>
                    <a:bodyPr/>
                    <a:lstStyle/>
                    <a:p>
                      <a:pPr>
                        <a:defRPr sz="1200">
                          <a:solidFill>
                            <a:srgbClr val="212121"/>
                          </a:solidFill>
                          <a:latin typeface="Calibri"/>
                        </a:defRPr>
                      </a:pPr>
                      <a:r>
                        <a:t>Backward BFS; decay=0.8; top-5 seeds</a:t>
                      </a:r>
                    </a:p>
                  </a:txBody>
                  <a:tcPr>
                    <a:solidFill>
                      <a:srgbClr val="F5F5F5"/>
                    </a:solidFill>
                  </a:tcPr>
                </a:tc>
                <a:tc>
                  <a:txBody>
                    <a:bodyPr/>
                    <a:lstStyle/>
                    <a:p>
                      <a:pPr>
                        <a:defRPr sz="1200">
                          <a:solidFill>
                            <a:srgbClr val="212121"/>
                          </a:solidFill>
                          <a:latin typeface="Calibri"/>
                        </a:defRPr>
                      </a:pPr>
                      <a:r>
                        <a:t>traceback_paths.json</a:t>
                      </a:r>
                    </a:p>
                  </a:txBody>
                  <a:tcPr>
                    <a:solidFill>
                      <a:srgbClr val="F5F5F5"/>
                    </a:solidFill>
                  </a:tcPr>
                </a:tc>
              </a:tr>
              <a:tr h="609600">
                <a:tc>
                  <a:txBody>
                    <a:bodyPr/>
                    <a:lstStyle/>
                    <a:p>
                      <a:pPr>
                        <a:defRPr sz="1200">
                          <a:solidFill>
                            <a:srgbClr val="212121"/>
                          </a:solidFill>
                          <a:latin typeface="Calibri"/>
                        </a:defRPr>
                      </a:pPr>
                      <a:r>
                        <a:t>4. Visualize</a:t>
                      </a:r>
                    </a:p>
                  </a:txBody>
                  <a:tcPr>
                    <a:solidFill>
                      <a:srgbClr val="FFFFFF"/>
                    </a:solidFill>
                  </a:tcPr>
                </a:tc>
                <a:tc>
                  <a:txBody>
                    <a:bodyPr/>
                    <a:lstStyle/>
                    <a:p>
                      <a:pPr>
                        <a:defRPr sz="1200">
                          <a:solidFill>
                            <a:srgbClr val="212121"/>
                          </a:solidFill>
                          <a:latin typeface="Calibri"/>
                        </a:defRPr>
                      </a:pPr>
                      <a:r>
                        <a:t>All analysis JSONs</a:t>
                      </a:r>
                    </a:p>
                  </a:txBody>
                  <a:tcPr>
                    <a:solidFill>
                      <a:srgbClr val="FFFFFF"/>
                    </a:solidFill>
                  </a:tcPr>
                </a:tc>
                <a:tc>
                  <a:txBody>
                    <a:bodyPr/>
                    <a:lstStyle/>
                    <a:p>
                      <a:pPr>
                        <a:defRPr sz="1200">
                          <a:solidFill>
                            <a:srgbClr val="212121"/>
                          </a:solidFill>
                          <a:latin typeface="Calibri"/>
                        </a:defRPr>
                      </a:pPr>
                      <a:r>
                        <a:t>8 plot types; auto-layout</a:t>
                      </a:r>
                    </a:p>
                  </a:txBody>
                  <a:tcPr>
                    <a:solidFill>
                      <a:srgbClr val="FFFFFF"/>
                    </a:solidFill>
                  </a:tcPr>
                </a:tc>
                <a:tc>
                  <a:txBody>
                    <a:bodyPr/>
                    <a:lstStyle/>
                    <a:p>
                      <a:pPr>
                        <a:defRPr sz="1200">
                          <a:solidFill>
                            <a:srgbClr val="212121"/>
                          </a:solidFill>
                          <a:latin typeface="Calibri"/>
                        </a:defRPr>
                      </a:pPr>
                      <a:r>
                        <a:t>8 PNG files</a:t>
                      </a:r>
                    </a:p>
                  </a:txBody>
                  <a:tcPr>
                    <a:solidFill>
                      <a:srgbClr val="FFFFFF"/>
                    </a:solidFill>
                  </a:tcPr>
                </a:tc>
              </a:tr>
            </a:tbl>
          </a:graphicData>
        </a:graphic>
      </p:graphicFrame>
      <p:sp>
        <p:nvSpPr>
          <p:cNvPr id="5" name="TextBox 4"/>
          <p:cNvSpPr txBox="1"/>
          <p:nvPr/>
        </p:nvSpPr>
        <p:spPr>
          <a:xfrm>
            <a:off x="10515600" y="6492240"/>
            <a:ext cx="1371600" cy="274320"/>
          </a:xfrm>
          <a:prstGeom prst="rect">
            <a:avLst/>
          </a:prstGeom>
          <a:noFill/>
        </p:spPr>
        <p:txBody>
          <a:bodyPr wrap="none">
            <a:spAutoFit/>
          </a:bodyPr>
          <a:lstStyle/>
          <a:p>
            <a:pPr algn="r">
              <a:defRPr sz="1000">
                <a:solidFill>
                  <a:srgbClr val="616161"/>
                </a:solidFill>
                <a:latin typeface="Calibri"/>
              </a:defRPr>
            </a:pPr>
            <a:r>
              <a:t>6 / 14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91440"/>
          <a:lstStyle/>
          <a:p>
            <a:pPr algn="l">
              <a:defRPr sz="1600" b="1">
                <a:solidFill>
                  <a:srgbClr val="FFFFFF"/>
                </a:solidFill>
                <a:latin typeface="Calibri"/>
              </a:defRPr>
            </a:pPr>
            <a:r>
              <a:t>  10+ prompts analyzed across 2 models with full artifact sets</a:t>
            </a:r>
          </a:p>
        </p:txBody>
      </p:sp>
      <p:sp>
        <p:nvSpPr>
          <p:cNvPr id="3" name="TextBox 2"/>
          <p:cNvSpPr txBox="1"/>
          <p:nvPr/>
        </p:nvSpPr>
        <p:spPr>
          <a:xfrm>
            <a:off x="457200" y="685800"/>
            <a:ext cx="10972800" cy="548640"/>
          </a:xfrm>
          <a:prstGeom prst="rect">
            <a:avLst/>
          </a:prstGeom>
          <a:noFill/>
        </p:spPr>
        <p:txBody>
          <a:bodyPr wrap="none">
            <a:spAutoFit/>
          </a:bodyPr>
          <a:lstStyle/>
          <a:p>
            <a:pPr>
              <a:defRPr sz="2800" b="1">
                <a:solidFill>
                  <a:srgbClr val="212121"/>
                </a:solidFill>
                <a:latin typeface="Calibri"/>
              </a:defRPr>
            </a:pPr>
            <a:r>
              <a:t>Deliverables Produced So Far</a:t>
            </a:r>
          </a:p>
        </p:txBody>
      </p:sp>
      <p:sp>
        <p:nvSpPr>
          <p:cNvPr id="4" name="TextBox 3"/>
          <p:cNvSpPr txBox="1"/>
          <p:nvPr/>
        </p:nvSpPr>
        <p:spPr>
          <a:xfrm>
            <a:off x="457200" y="1371600"/>
            <a:ext cx="5303520" cy="4572000"/>
          </a:xfrm>
          <a:prstGeom prst="rect">
            <a:avLst/>
          </a:prstGeom>
          <a:noFill/>
        </p:spPr>
        <p:txBody>
          <a:bodyPr wrap="square">
            <a:spAutoFit/>
          </a:bodyPr>
          <a:lstStyle/>
          <a:p>
            <a:pPr>
              <a:spcAft>
                <a:spcPts val="800"/>
              </a:spcAft>
              <a:defRPr sz="1500" b="0">
                <a:solidFill>
                  <a:srgbClr val="212121"/>
                </a:solidFill>
                <a:latin typeface="Calibri"/>
              </a:defRPr>
            </a:pPr>
            <a:r>
              <a:t>Datasets (per prompt x model)</a:t>
            </a:r>
          </a:p>
          <a:p>
            <a:pPr lvl="1">
              <a:spcAft>
                <a:spcPts val="800"/>
              </a:spcAft>
              <a:defRPr sz="1300">
                <a:solidFill>
                  <a:srgbClr val="616161"/>
                </a:solidFill>
                <a:latin typeface="Calibri"/>
              </a:defRPr>
            </a:pPr>
            <a:r>
              <a:t>10+ prompt variations fully analyzed</a:t>
            </a:r>
          </a:p>
          <a:p>
            <a:pPr lvl="1">
              <a:spcAft>
                <a:spcPts val="800"/>
              </a:spcAft>
              <a:defRPr sz="1300">
                <a:solidFill>
                  <a:srgbClr val="616161"/>
                </a:solidFill>
                <a:latin typeface="Calibri"/>
              </a:defRPr>
            </a:pPr>
            <a:r>
              <a:t>2 models: GEMMA-2-2B, QWEN3-4B</a:t>
            </a:r>
          </a:p>
          <a:p>
            <a:pPr lvl="1">
              <a:spcAft>
                <a:spcPts val="800"/>
              </a:spcAft>
              <a:defRPr sz="1300">
                <a:solidFill>
                  <a:srgbClr val="616161"/>
                </a:solidFill>
                <a:latin typeface="Calibri"/>
              </a:defRPr>
            </a:pPr>
            <a:r>
              <a:t>80+ visualization PNGs generated</a:t>
            </a:r>
          </a:p>
          <a:p>
            <a:pPr lvl="1">
              <a:spcAft>
                <a:spcPts val="800"/>
              </a:spcAft>
              <a:defRPr sz="1300">
                <a:solidFill>
                  <a:srgbClr val="616161"/>
                </a:solidFill>
                <a:latin typeface="Calibri"/>
              </a:defRPr>
            </a:pPr>
            <a:r>
              <a:t>Traceback JSONs for key prompts</a:t>
            </a:r>
          </a:p>
          <a:p>
            <a:pPr>
              <a:spcAft>
                <a:spcPts val="800"/>
              </a:spcAft>
              <a:defRPr sz="1500" b="0">
                <a:solidFill>
                  <a:srgbClr val="212121"/>
                </a:solidFill>
                <a:latin typeface="Calibri"/>
              </a:defRPr>
            </a:pPr>
          </a:p>
          <a:p>
            <a:pPr>
              <a:spcAft>
                <a:spcPts val="800"/>
              </a:spcAft>
              <a:defRPr sz="1500" b="0">
                <a:solidFill>
                  <a:srgbClr val="212121"/>
                </a:solidFill>
                <a:latin typeface="Calibri"/>
              </a:defRPr>
            </a:pPr>
            <a:r>
              <a:t>Code / Pipeline</a:t>
            </a:r>
          </a:p>
          <a:p>
            <a:pPr lvl="1">
              <a:spcAft>
                <a:spcPts val="800"/>
              </a:spcAft>
              <a:defRPr sz="1300">
                <a:solidFill>
                  <a:srgbClr val="616161"/>
                </a:solidFill>
                <a:latin typeface="Calibri"/>
              </a:defRPr>
            </a:pPr>
            <a:r>
              <a:t>5-script automated pipeline</a:t>
            </a:r>
          </a:p>
          <a:p>
            <a:pPr lvl="1">
              <a:spcAft>
                <a:spcPts val="800"/>
              </a:spcAft>
              <a:defRPr sz="1300">
                <a:solidFill>
                  <a:srgbClr val="616161"/>
                </a:solidFill>
                <a:latin typeface="Calibri"/>
              </a:defRPr>
            </a:pPr>
            <a:r>
              <a:t>Centralized PathManager for reproducibility</a:t>
            </a:r>
          </a:p>
          <a:p>
            <a:pPr lvl="1">
              <a:spcAft>
                <a:spcPts val="800"/>
              </a:spcAft>
              <a:defRPr sz="1300">
                <a:solidFill>
                  <a:srgbClr val="616161"/>
                </a:solidFill>
                <a:latin typeface="Calibri"/>
              </a:defRPr>
            </a:pPr>
            <a:r>
              <a:t>Cross-model comparison script</a:t>
            </a:r>
          </a:p>
        </p:txBody>
      </p:sp>
      <p:sp>
        <p:nvSpPr>
          <p:cNvPr id="5" name="TextBox 4"/>
          <p:cNvSpPr txBox="1"/>
          <p:nvPr/>
        </p:nvSpPr>
        <p:spPr>
          <a:xfrm>
            <a:off x="6217920" y="1371600"/>
            <a:ext cx="5303520" cy="4572000"/>
          </a:xfrm>
          <a:prstGeom prst="rect">
            <a:avLst/>
          </a:prstGeom>
          <a:noFill/>
        </p:spPr>
        <p:txBody>
          <a:bodyPr wrap="square">
            <a:spAutoFit/>
          </a:bodyPr>
          <a:lstStyle/>
          <a:p>
            <a:pPr>
              <a:spcAft>
                <a:spcPts val="800"/>
              </a:spcAft>
              <a:defRPr sz="1500" b="0">
                <a:solidFill>
                  <a:srgbClr val="212121"/>
                </a:solidFill>
                <a:latin typeface="Calibri"/>
              </a:defRPr>
            </a:pPr>
            <a:r>
              <a:t>Research Documents</a:t>
            </a:r>
          </a:p>
          <a:p>
            <a:pPr lvl="1">
              <a:spcAft>
                <a:spcPts val="800"/>
              </a:spcAft>
              <a:defRPr sz="1300">
                <a:solidFill>
                  <a:srgbClr val="616161"/>
                </a:solidFill>
                <a:latin typeface="Calibri"/>
              </a:defRPr>
            </a:pPr>
            <a:r>
              <a:t>Full scientific paper draft (~6,800 words)</a:t>
            </a:r>
          </a:p>
          <a:p>
            <a:pPr lvl="1">
              <a:spcAft>
                <a:spcPts val="800"/>
              </a:spcAft>
              <a:defRPr sz="1300">
                <a:solidFill>
                  <a:srgbClr val="616161"/>
                </a:solidFill>
                <a:latin typeface="Calibri"/>
              </a:defRPr>
            </a:pPr>
            <a:r>
              <a:t>Southern State case study</a:t>
            </a:r>
          </a:p>
          <a:p>
            <a:pPr lvl="1">
              <a:spcAft>
                <a:spcPts val="800"/>
              </a:spcAft>
              <a:defRPr sz="1300">
                <a:solidFill>
                  <a:srgbClr val="616161"/>
                </a:solidFill>
                <a:latin typeface="Calibri"/>
              </a:defRPr>
            </a:pPr>
            <a:r>
              <a:t>Token Attribution validation report</a:t>
            </a:r>
          </a:p>
          <a:p>
            <a:pPr lvl="1">
              <a:spcAft>
                <a:spcPts val="800"/>
              </a:spcAft>
              <a:defRPr sz="1300">
                <a:solidFill>
                  <a:srgbClr val="616161"/>
                </a:solidFill>
                <a:latin typeface="Calibri"/>
              </a:defRPr>
            </a:pPr>
            <a:r>
              <a:t>Semantic Taxonomy methodology</a:t>
            </a:r>
          </a:p>
          <a:p>
            <a:pPr>
              <a:spcAft>
                <a:spcPts val="800"/>
              </a:spcAft>
              <a:defRPr sz="1500" b="0">
                <a:solidFill>
                  <a:srgbClr val="212121"/>
                </a:solidFill>
                <a:latin typeface="Calibri"/>
              </a:defRPr>
            </a:pPr>
          </a:p>
          <a:p>
            <a:pPr>
              <a:spcAft>
                <a:spcPts val="800"/>
              </a:spcAft>
              <a:defRPr sz="1500" b="0">
                <a:solidFill>
                  <a:srgbClr val="212121"/>
                </a:solidFill>
                <a:latin typeface="Calibri"/>
              </a:defRPr>
            </a:pPr>
            <a:r>
              <a:t>Quantitative Tables</a:t>
            </a:r>
          </a:p>
          <a:p>
            <a:pPr lvl="1">
              <a:spcAft>
                <a:spcPts val="800"/>
              </a:spcAft>
              <a:defRPr sz="1300">
                <a:solidFill>
                  <a:srgbClr val="616161"/>
                </a:solidFill>
                <a:latin typeface="Calibri"/>
              </a:defRPr>
            </a:pPr>
            <a:r>
              <a:t>Prediction probabilities per model/prompt</a:t>
            </a:r>
          </a:p>
          <a:p>
            <a:pPr lvl="1">
              <a:spcAft>
                <a:spcPts val="800"/>
              </a:spcAft>
              <a:defRPr sz="1300">
                <a:solidFill>
                  <a:srgbClr val="616161"/>
                </a:solidFill>
                <a:latin typeface="Calibri"/>
              </a:defRPr>
            </a:pPr>
            <a:r>
              <a:t>Bottleneck positions (layer, feature ID)</a:t>
            </a:r>
          </a:p>
          <a:p>
            <a:pPr lvl="1">
              <a:spcAft>
                <a:spcPts val="800"/>
              </a:spcAft>
              <a:defRPr sz="1300">
                <a:solidFill>
                  <a:srgbClr val="616161"/>
                </a:solidFill>
                <a:latin typeface="Calibri"/>
              </a:defRPr>
            </a:pPr>
            <a:r>
              <a:t>Convergence rates (% paths through BN)</a:t>
            </a:r>
          </a:p>
        </p:txBody>
      </p:sp>
      <p:sp>
        <p:nvSpPr>
          <p:cNvPr id="6" name="TextBox 5"/>
          <p:cNvSpPr txBox="1"/>
          <p:nvPr/>
        </p:nvSpPr>
        <p:spPr>
          <a:xfrm>
            <a:off x="10515600" y="6492240"/>
            <a:ext cx="1371600" cy="274320"/>
          </a:xfrm>
          <a:prstGeom prst="rect">
            <a:avLst/>
          </a:prstGeom>
          <a:noFill/>
        </p:spPr>
        <p:txBody>
          <a:bodyPr wrap="none">
            <a:spAutoFit/>
          </a:bodyPr>
          <a:lstStyle/>
          <a:p>
            <a:pPr algn="r">
              <a:defRPr sz="1000">
                <a:solidFill>
                  <a:srgbClr val="616161"/>
                </a:solidFill>
                <a:latin typeface="Calibri"/>
              </a:defRPr>
            </a:pPr>
            <a:r>
              <a:t>7 / 14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91440"/>
          <a:lstStyle/>
          <a:p>
            <a:pPr algn="l">
              <a:defRPr sz="1600" b="1">
                <a:solidFill>
                  <a:srgbClr val="FFFFFF"/>
                </a:solidFill>
                <a:latin typeface="Calibri"/>
              </a:defRPr>
            </a:pPr>
            <a:r>
              <a:t>  FINDING 1: Bottleneck at 19% depth (GEMMA) filters semantics; at 33% (QWEN) preserves them</a:t>
            </a:r>
          </a:p>
        </p:txBody>
      </p:sp>
      <p:sp>
        <p:nvSpPr>
          <p:cNvPr id="3" name="TextBox 2"/>
          <p:cNvSpPr txBox="1"/>
          <p:nvPr/>
        </p:nvSpPr>
        <p:spPr>
          <a:xfrm>
            <a:off x="457200" y="685800"/>
            <a:ext cx="10972800" cy="548640"/>
          </a:xfrm>
          <a:prstGeom prst="rect">
            <a:avLst/>
          </a:prstGeom>
          <a:noFill/>
        </p:spPr>
        <p:txBody>
          <a:bodyPr wrap="none">
            <a:spAutoFit/>
          </a:bodyPr>
          <a:lstStyle/>
          <a:p>
            <a:pPr>
              <a:defRPr sz="2800" b="1">
                <a:solidFill>
                  <a:srgbClr val="212121"/>
                </a:solidFill>
                <a:latin typeface="Calibri"/>
              </a:defRPr>
            </a:pPr>
            <a:r>
              <a:t>Key Finding: Bottleneck Position Determines Accuracy</a:t>
            </a:r>
          </a:p>
        </p:txBody>
      </p:sp>
      <p:sp>
        <p:nvSpPr>
          <p:cNvPr id="4" name="TextBox 3"/>
          <p:cNvSpPr txBox="1"/>
          <p:nvPr/>
        </p:nvSpPr>
        <p:spPr>
          <a:xfrm>
            <a:off x="457200" y="1371600"/>
            <a:ext cx="5303520" cy="4572000"/>
          </a:xfrm>
          <a:prstGeom prst="rect">
            <a:avLst/>
          </a:prstGeom>
          <a:noFill/>
        </p:spPr>
        <p:txBody>
          <a:bodyPr wrap="square">
            <a:spAutoFit/>
          </a:bodyPr>
          <a:lstStyle/>
          <a:p>
            <a:pPr>
              <a:spcAft>
                <a:spcPts val="800"/>
              </a:spcAft>
              <a:defRPr sz="1500" b="0">
                <a:solidFill>
                  <a:srgbClr val="212121"/>
                </a:solidFill>
                <a:latin typeface="Calibri"/>
              </a:defRPr>
            </a:pPr>
            <a:r>
              <a:t>GEMMA-2-2B (26 layers)</a:t>
            </a:r>
          </a:p>
          <a:p>
            <a:pPr lvl="1">
              <a:spcAft>
                <a:spcPts val="800"/>
              </a:spcAft>
              <a:defRPr sz="1300">
                <a:solidFill>
                  <a:srgbClr val="616161"/>
                </a:solidFill>
                <a:latin typeface="Calibri"/>
              </a:defRPr>
            </a:pPr>
            <a:r>
              <a:t>Bottleneck: Layer 5 (19% depth)</a:t>
            </a:r>
          </a:p>
          <a:p>
            <a:pPr lvl="1">
              <a:spcAft>
                <a:spcPts val="800"/>
              </a:spcAft>
              <a:defRPr sz="1300">
                <a:solidFill>
                  <a:srgbClr val="616161"/>
                </a:solidFill>
                <a:latin typeface="Calibri"/>
              </a:defRPr>
            </a:pPr>
            <a:r>
              <a:t>'Southern most US state is' -&gt; ' home' (10.5%)</a:t>
            </a:r>
          </a:p>
          <a:p>
            <a:pPr lvl="1">
              <a:spcAft>
                <a:spcPts val="800"/>
              </a:spcAft>
              <a:defRPr sz="1300">
                <a:solidFill>
                  <a:srgbClr val="616161"/>
                </a:solidFill>
                <a:latin typeface="Calibri"/>
              </a:defRPr>
            </a:pPr>
            <a:r>
              <a:t>Correct ' Hawaii' ranks 6th (2.9%)</a:t>
            </a:r>
          </a:p>
          <a:p>
            <a:pPr lvl="1">
              <a:spcAft>
                <a:spcPts val="800"/>
              </a:spcAft>
              <a:defRPr sz="1300">
                <a:solidFill>
                  <a:srgbClr val="616161"/>
                </a:solidFill>
                <a:latin typeface="Calibri"/>
              </a:defRPr>
            </a:pPr>
            <a:r>
              <a:t>Early compression discards geography</a:t>
            </a:r>
          </a:p>
        </p:txBody>
      </p:sp>
      <p:sp>
        <p:nvSpPr>
          <p:cNvPr id="5" name="TextBox 4"/>
          <p:cNvSpPr txBox="1"/>
          <p:nvPr/>
        </p:nvSpPr>
        <p:spPr>
          <a:xfrm>
            <a:off x="6217920" y="1371600"/>
            <a:ext cx="5303520" cy="4572000"/>
          </a:xfrm>
          <a:prstGeom prst="rect">
            <a:avLst/>
          </a:prstGeom>
          <a:noFill/>
        </p:spPr>
        <p:txBody>
          <a:bodyPr wrap="square">
            <a:spAutoFit/>
          </a:bodyPr>
          <a:lstStyle/>
          <a:p>
            <a:pPr>
              <a:spcAft>
                <a:spcPts val="800"/>
              </a:spcAft>
              <a:defRPr sz="1500" b="0">
                <a:solidFill>
                  <a:srgbClr val="212121"/>
                </a:solidFill>
                <a:latin typeface="Calibri"/>
              </a:defRPr>
            </a:pPr>
            <a:r>
              <a:t>QWEN3-4B (36 layers)</a:t>
            </a:r>
          </a:p>
          <a:p>
            <a:pPr lvl="1">
              <a:spcAft>
                <a:spcPts val="800"/>
              </a:spcAft>
              <a:defRPr sz="1300">
                <a:solidFill>
                  <a:srgbClr val="616161"/>
                </a:solidFill>
                <a:latin typeface="Calibri"/>
              </a:defRPr>
            </a:pPr>
            <a:r>
              <a:t>Bottleneck: Layer 12 (33% depth)</a:t>
            </a:r>
          </a:p>
          <a:p>
            <a:pPr lvl="1">
              <a:spcAft>
                <a:spcPts val="800"/>
              </a:spcAft>
              <a:defRPr sz="1300">
                <a:solidFill>
                  <a:srgbClr val="616161"/>
                </a:solidFill>
                <a:latin typeface="Calibri"/>
              </a:defRPr>
            </a:pPr>
            <a:r>
              <a:t>'Southern most US state is' -&gt; ' Florida' (78.1%)</a:t>
            </a:r>
          </a:p>
          <a:p>
            <a:pPr lvl="1">
              <a:spcAft>
                <a:spcPts val="800"/>
              </a:spcAft>
              <a:defRPr sz="1300">
                <a:solidFill>
                  <a:srgbClr val="616161"/>
                </a:solidFill>
                <a:latin typeface="Calibri"/>
              </a:defRPr>
            </a:pPr>
            <a:r>
              <a:t>27x higher probability than GEMMA</a:t>
            </a:r>
          </a:p>
          <a:p>
            <a:pPr lvl="1">
              <a:spcAft>
                <a:spcPts val="800"/>
              </a:spcAft>
              <a:defRPr sz="1300">
                <a:solidFill>
                  <a:srgbClr val="616161"/>
                </a:solidFill>
                <a:latin typeface="Calibri"/>
              </a:defRPr>
            </a:pPr>
            <a:r>
              <a:t>Later bottleneck preserves facts</a:t>
            </a:r>
          </a:p>
        </p:txBody>
      </p:sp>
      <p:pic>
        <p:nvPicPr>
          <p:cNvPr id="6" name="Picture 5" descr="summary_dashboard.png"/>
          <p:cNvPicPr>
            <a:picLocks noChangeAspect="1"/>
          </p:cNvPicPr>
          <p:nvPr/>
        </p:nvPicPr>
        <p:blipFill>
          <a:blip r:embed="rId2"/>
          <a:stretch>
            <a:fillRect/>
          </a:stretch>
        </p:blipFill>
        <p:spPr>
          <a:xfrm>
            <a:off x="914400" y="3840480"/>
            <a:ext cx="4572000" cy="2560320"/>
          </a:xfrm>
          <a:prstGeom prst="rect">
            <a:avLst/>
          </a:prstGeom>
        </p:spPr>
      </p:pic>
      <p:sp>
        <p:nvSpPr>
          <p:cNvPr id="7" name="Rectangle 6"/>
          <p:cNvSpPr/>
          <p:nvPr/>
        </p:nvSpPr>
        <p:spPr>
          <a:xfrm>
            <a:off x="6400800" y="3840480"/>
            <a:ext cx="4572000" cy="2560320"/>
          </a:xfrm>
          <a:prstGeom prst="rect">
            <a:avLst/>
          </a:prstGeom>
          <a:solidFill>
            <a:srgbClr val="E8F5E9"/>
          </a:solidFill>
          <a:ln w="19050">
            <a:solidFill>
              <a:srgbClr val="4CAF50"/>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720"/>
              </a:spcBef>
              <a:defRPr sz="1100" i="1">
                <a:solidFill>
                  <a:srgbClr val="1B5E20"/>
                </a:solidFill>
                <a:latin typeface="Calibri"/>
              </a:defRPr>
            </a:pPr>
            <a:r>
              <a:t>[INSERT: QWEN summary dashboard</a:t>
            </a:r>
            <a:br/>
            <a:r>
              <a:t>for same prompt -- showing correct prediction]</a:t>
            </a:r>
          </a:p>
        </p:txBody>
      </p:sp>
      <p:sp>
        <p:nvSpPr>
          <p:cNvPr id="8" name="TextBox 7"/>
          <p:cNvSpPr txBox="1"/>
          <p:nvPr/>
        </p:nvSpPr>
        <p:spPr>
          <a:xfrm>
            <a:off x="10515600" y="6492240"/>
            <a:ext cx="1371600" cy="274320"/>
          </a:xfrm>
          <a:prstGeom prst="rect">
            <a:avLst/>
          </a:prstGeom>
          <a:noFill/>
        </p:spPr>
        <p:txBody>
          <a:bodyPr wrap="none">
            <a:spAutoFit/>
          </a:bodyPr>
          <a:lstStyle/>
          <a:p>
            <a:pPr algn="r">
              <a:defRPr sz="1000">
                <a:solidFill>
                  <a:srgbClr val="616161"/>
                </a:solidFill>
                <a:latin typeface="Calibri"/>
              </a:defRPr>
            </a:pPr>
            <a:r>
              <a:t>8 / 14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91440"/>
          <a:lstStyle/>
          <a:p>
            <a:pPr algn="l">
              <a:defRPr sz="1600" b="1">
                <a:solidFill>
                  <a:srgbClr val="FFFFFF"/>
                </a:solidFill>
                <a:latin typeface="Calibri"/>
              </a:defRPr>
            </a:pPr>
            <a:r>
              <a:t>  FINDING 2: 79/80 top features are syntactic -- models use template matching, not knowledge retrieval</a:t>
            </a:r>
          </a:p>
        </p:txBody>
      </p:sp>
      <p:sp>
        <p:nvSpPr>
          <p:cNvPr id="3" name="TextBox 2"/>
          <p:cNvSpPr txBox="1"/>
          <p:nvPr/>
        </p:nvSpPr>
        <p:spPr>
          <a:xfrm>
            <a:off x="457200" y="685800"/>
            <a:ext cx="10972800" cy="548640"/>
          </a:xfrm>
          <a:prstGeom prst="rect">
            <a:avLst/>
          </a:prstGeom>
          <a:noFill/>
        </p:spPr>
        <p:txBody>
          <a:bodyPr wrap="none">
            <a:spAutoFit/>
          </a:bodyPr>
          <a:lstStyle/>
          <a:p>
            <a:pPr>
              <a:defRPr sz="2800" b="1">
                <a:solidFill>
                  <a:srgbClr val="212121"/>
                </a:solidFill>
                <a:latin typeface="Calibri"/>
              </a:defRPr>
            </a:pPr>
            <a:r>
              <a:t>Key Finding: Syntactic Pattern Matching Dominates</a:t>
            </a:r>
          </a:p>
        </p:txBody>
      </p:sp>
      <p:sp>
        <p:nvSpPr>
          <p:cNvPr id="4" name="TextBox 3"/>
          <p:cNvSpPr txBox="1"/>
          <p:nvPr/>
        </p:nvSpPr>
        <p:spPr>
          <a:xfrm>
            <a:off x="457200" y="1371600"/>
            <a:ext cx="10972800" cy="4572000"/>
          </a:xfrm>
          <a:prstGeom prst="rect">
            <a:avLst/>
          </a:prstGeom>
          <a:noFill/>
        </p:spPr>
        <p:txBody>
          <a:bodyPr wrap="square">
            <a:spAutoFit/>
          </a:bodyPr>
          <a:lstStyle/>
          <a:p>
            <a:pPr>
              <a:spcAft>
                <a:spcPts val="800"/>
              </a:spcAft>
              <a:defRPr sz="1500" b="0">
                <a:solidFill>
                  <a:srgbClr val="212121"/>
                </a:solidFill>
                <a:latin typeface="Calibri"/>
              </a:defRPr>
            </a:pPr>
            <a:r>
              <a:t>'Paris is the capital of' -- what features fire?</a:t>
            </a:r>
          </a:p>
          <a:p>
            <a:pPr lvl="1">
              <a:spcAft>
                <a:spcPts val="800"/>
              </a:spcAft>
              <a:defRPr sz="1300">
                <a:solidFill>
                  <a:srgbClr val="616161"/>
                </a:solidFill>
                <a:latin typeface="Calibri"/>
              </a:defRPr>
            </a:pPr>
            <a:r>
              <a:t>79/80 top features = syntax (articles, punctuation, connectors)</a:t>
            </a:r>
          </a:p>
          <a:p>
            <a:pPr lvl="1">
              <a:spcAft>
                <a:spcPts val="800"/>
              </a:spcAft>
              <a:defRPr sz="1300">
                <a:solidFill>
                  <a:srgbClr val="616161"/>
                </a:solidFill>
                <a:latin typeface="Calibri"/>
              </a:defRPr>
            </a:pPr>
            <a:r>
              <a:t>0/80 features directly encode 'Paris' or 'France'</a:t>
            </a:r>
          </a:p>
          <a:p>
            <a:pPr lvl="1">
              <a:spcAft>
                <a:spcPts val="800"/>
              </a:spcAft>
              <a:defRPr sz="1300">
                <a:solidFill>
                  <a:srgbClr val="616161"/>
                </a:solidFill>
                <a:latin typeface="Calibri"/>
              </a:defRPr>
            </a:pPr>
            <a:r>
              <a:t>Model uses template: 'X is capital of Y' -- not geographic knowledge</a:t>
            </a:r>
          </a:p>
          <a:p>
            <a:pPr>
              <a:spcAft>
                <a:spcPts val="800"/>
              </a:spcAft>
              <a:defRPr sz="1500" b="0">
                <a:solidFill>
                  <a:srgbClr val="212121"/>
                </a:solidFill>
                <a:latin typeface="Calibri"/>
              </a:defRPr>
            </a:pPr>
          </a:p>
          <a:p>
            <a:pPr>
              <a:spcAft>
                <a:spcPts val="800"/>
              </a:spcAft>
              <a:defRPr sz="1500" b="0">
                <a:solidFill>
                  <a:srgbClr val="212121"/>
                </a:solidFill>
                <a:latin typeface="Calibri"/>
              </a:defRPr>
            </a:pPr>
            <a:r>
              <a:t>Prompt sensitivity confirms pattern matching:</a:t>
            </a:r>
          </a:p>
          <a:p>
            <a:pPr lvl="1">
              <a:spcAft>
                <a:spcPts val="800"/>
              </a:spcAft>
              <a:defRPr sz="1300">
                <a:solidFill>
                  <a:srgbClr val="616161"/>
                </a:solidFill>
                <a:latin typeface="Calibri"/>
              </a:defRPr>
            </a:pPr>
            <a:r>
              <a:t>'Paris is capital of'  -&gt; ' France' at 85.7%  (matches template)</a:t>
            </a:r>
          </a:p>
          <a:p>
            <a:pPr lvl="1">
              <a:spcAft>
                <a:spcPts val="800"/>
              </a:spcAft>
              <a:defRPr sz="1300">
                <a:solidFill>
                  <a:srgbClr val="616161"/>
                </a:solidFill>
                <a:latin typeface="Calibri"/>
              </a:defRPr>
            </a:pPr>
            <a:r>
              <a:t>'Capital of France is' -&gt; ' a' at 20.7%  (template broken)</a:t>
            </a:r>
          </a:p>
          <a:p>
            <a:pPr lvl="1">
              <a:spcAft>
                <a:spcPts val="800"/>
              </a:spcAft>
              <a:defRPr sz="1300">
                <a:solidFill>
                  <a:srgbClr val="616161"/>
                </a:solidFill>
                <a:latin typeface="Calibri"/>
              </a:defRPr>
            </a:pPr>
            <a:r>
              <a:t>Same facts, but syntactic frame determines success</a:t>
            </a:r>
          </a:p>
          <a:p>
            <a:pPr>
              <a:spcAft>
                <a:spcPts val="800"/>
              </a:spcAft>
              <a:defRPr sz="1500" b="0">
                <a:solidFill>
                  <a:srgbClr val="212121"/>
                </a:solidFill>
                <a:latin typeface="Calibri"/>
              </a:defRPr>
            </a:pPr>
          </a:p>
          <a:p>
            <a:pPr>
              <a:spcAft>
                <a:spcPts val="800"/>
              </a:spcAft>
              <a:defRPr sz="1500" b="0">
                <a:solidFill>
                  <a:srgbClr val="212121"/>
                </a:solidFill>
                <a:latin typeface="Calibri"/>
              </a:defRPr>
            </a:pPr>
            <a:r>
              <a:t>Implication: factual recall is fragile and syntax-dependent</a:t>
            </a:r>
          </a:p>
        </p:txBody>
      </p:sp>
      <p:pic>
        <p:nvPicPr>
          <p:cNvPr id="5" name="Picture 4" descr="feature_importance.png"/>
          <p:cNvPicPr>
            <a:picLocks noChangeAspect="1"/>
          </p:cNvPicPr>
          <p:nvPr/>
        </p:nvPicPr>
        <p:blipFill>
          <a:blip r:embed="rId2"/>
          <a:stretch>
            <a:fillRect/>
          </a:stretch>
        </p:blipFill>
        <p:spPr>
          <a:xfrm>
            <a:off x="7772400" y="3657600"/>
            <a:ext cx="3657600" cy="2743200"/>
          </a:xfrm>
          <a:prstGeom prst="rect">
            <a:avLst/>
          </a:prstGeom>
        </p:spPr>
      </p:pic>
      <p:sp>
        <p:nvSpPr>
          <p:cNvPr id="6" name="TextBox 5"/>
          <p:cNvSpPr txBox="1"/>
          <p:nvPr/>
        </p:nvSpPr>
        <p:spPr>
          <a:xfrm>
            <a:off x="10515600" y="6492240"/>
            <a:ext cx="1371600" cy="274320"/>
          </a:xfrm>
          <a:prstGeom prst="rect">
            <a:avLst/>
          </a:prstGeom>
          <a:noFill/>
        </p:spPr>
        <p:txBody>
          <a:bodyPr wrap="none">
            <a:spAutoFit/>
          </a:bodyPr>
          <a:lstStyle/>
          <a:p>
            <a:pPr algn="r">
              <a:defRPr sz="1000">
                <a:solidFill>
                  <a:srgbClr val="616161"/>
                </a:solidFill>
                <a:latin typeface="Calibri"/>
              </a:defRPr>
            </a:pPr>
            <a:r>
              <a:t>9 / 14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91440"/>
          <a:lstStyle/>
          <a:p>
            <a:pPr algn="l">
              <a:defRPr sz="1600" b="1">
                <a:solidFill>
                  <a:srgbClr val="FFFFFF"/>
                </a:solidFill>
                <a:latin typeface="Calibri"/>
              </a:defRPr>
            </a:pPr>
            <a:r>
              <a:t>  FINDING 3: All output tokens share ONE circuit -- token attribution hypothesis refuted</a:t>
            </a:r>
          </a:p>
        </p:txBody>
      </p:sp>
      <p:sp>
        <p:nvSpPr>
          <p:cNvPr id="3" name="TextBox 2"/>
          <p:cNvSpPr txBox="1"/>
          <p:nvPr/>
        </p:nvSpPr>
        <p:spPr>
          <a:xfrm>
            <a:off x="457200" y="685800"/>
            <a:ext cx="10972800" cy="548640"/>
          </a:xfrm>
          <a:prstGeom prst="rect">
            <a:avLst/>
          </a:prstGeom>
          <a:noFill/>
        </p:spPr>
        <p:txBody>
          <a:bodyPr wrap="none">
            <a:spAutoFit/>
          </a:bodyPr>
          <a:lstStyle/>
          <a:p>
            <a:pPr>
              <a:defRPr sz="2800" b="1">
                <a:solidFill>
                  <a:srgbClr val="212121"/>
                </a:solidFill>
                <a:latin typeface="Calibri"/>
              </a:defRPr>
            </a:pPr>
            <a:r>
              <a:t>Key Finding: Universal Shared Circuit</a:t>
            </a:r>
          </a:p>
        </p:txBody>
      </p:sp>
      <p:sp>
        <p:nvSpPr>
          <p:cNvPr id="4" name="TextBox 3"/>
          <p:cNvSpPr txBox="1"/>
          <p:nvPr/>
        </p:nvSpPr>
        <p:spPr>
          <a:xfrm>
            <a:off x="457200" y="1371600"/>
            <a:ext cx="10972800" cy="4572000"/>
          </a:xfrm>
          <a:prstGeom prst="rect">
            <a:avLst/>
          </a:prstGeom>
          <a:noFill/>
        </p:spPr>
        <p:txBody>
          <a:bodyPr wrap="square">
            <a:spAutoFit/>
          </a:bodyPr>
          <a:lstStyle/>
          <a:p>
            <a:pPr>
              <a:spcAft>
                <a:spcPts val="800"/>
              </a:spcAft>
              <a:defRPr sz="1500" b="0">
                <a:solidFill>
                  <a:srgbClr val="212121"/>
                </a:solidFill>
                <a:latin typeface="Calibri"/>
              </a:defRPr>
            </a:pPr>
            <a:r>
              <a:t>Initial hypothesis: different tokens use different circuits</a:t>
            </a:r>
          </a:p>
          <a:p>
            <a:pPr lvl="1">
              <a:spcAft>
                <a:spcPts val="800"/>
              </a:spcAft>
              <a:defRPr sz="1300">
                <a:solidFill>
                  <a:srgbClr val="616161"/>
                </a:solidFill>
                <a:latin typeface="Calibri"/>
              </a:defRPr>
            </a:pPr>
            <a:r>
              <a:t>Top predictions -&gt; top-ranked output nodes -&gt; unique pathways?</a:t>
            </a:r>
          </a:p>
          <a:p>
            <a:pPr lvl="1">
              <a:spcAft>
                <a:spcPts val="800"/>
              </a:spcAft>
              <a:defRPr sz="1300">
                <a:solidFill>
                  <a:srgbClr val="616161"/>
                </a:solidFill>
                <a:latin typeface="Calibri"/>
              </a:defRPr>
            </a:pPr>
            <a:r>
              <a:t>Alternative predictions -&gt; bottom-ranked nodes -&gt; separate pathways?</a:t>
            </a:r>
          </a:p>
          <a:p>
            <a:pPr>
              <a:spcAft>
                <a:spcPts val="800"/>
              </a:spcAft>
              <a:defRPr sz="1500" b="0">
                <a:solidFill>
                  <a:srgbClr val="212121"/>
                </a:solidFill>
                <a:latin typeface="Calibri"/>
              </a:defRPr>
            </a:pPr>
          </a:p>
          <a:p>
            <a:pPr>
              <a:spcAft>
                <a:spcPts val="800"/>
              </a:spcAft>
              <a:defRPr sz="1500" b="0">
                <a:solidFill>
                  <a:srgbClr val="212121"/>
                </a:solidFill>
                <a:latin typeface="Calibri"/>
              </a:defRPr>
            </a:pPr>
            <a:r>
              <a:t>Result: HYPOTHESIS REFUTED</a:t>
            </a:r>
          </a:p>
          <a:p>
            <a:pPr lvl="1">
              <a:spcAft>
                <a:spcPts val="800"/>
              </a:spcAft>
              <a:defRPr sz="1300">
                <a:solidFill>
                  <a:srgbClr val="616161"/>
                </a:solidFill>
                <a:latin typeface="Calibri"/>
              </a:defRPr>
            </a:pPr>
            <a:r>
              <a:t>Top-5 AND bottom-5 output nodes converge on SAME bottleneck</a:t>
            </a:r>
          </a:p>
          <a:p>
            <a:pPr lvl="1">
              <a:spcAft>
                <a:spcPts val="800"/>
              </a:spcAft>
              <a:defRPr sz="1300">
                <a:solidFill>
                  <a:srgbClr val="616161"/>
                </a:solidFill>
                <a:latin typeface="Calibri"/>
              </a:defRPr>
            </a:pPr>
            <a:r>
              <a:t>100% overlap -- zero unique pathways found</a:t>
            </a:r>
          </a:p>
          <a:p>
            <a:pPr lvl="1">
              <a:spcAft>
                <a:spcPts val="800"/>
              </a:spcAft>
              <a:defRPr sz="1300">
                <a:solidFill>
                  <a:srgbClr val="616161"/>
                </a:solidFill>
                <a:latin typeface="Calibri"/>
              </a:defRPr>
            </a:pPr>
            <a:r>
              <a:t>Model computes full probability distribution through ONE circuit</a:t>
            </a:r>
          </a:p>
          <a:p>
            <a:pPr>
              <a:spcAft>
                <a:spcPts val="800"/>
              </a:spcAft>
              <a:defRPr sz="1500" b="0">
                <a:solidFill>
                  <a:srgbClr val="212121"/>
                </a:solidFill>
                <a:latin typeface="Calibri"/>
              </a:defRPr>
            </a:pPr>
          </a:p>
          <a:p>
            <a:pPr>
              <a:spcAft>
                <a:spcPts val="800"/>
              </a:spcAft>
              <a:defRPr sz="1500" b="0">
                <a:solidFill>
                  <a:srgbClr val="212121"/>
                </a:solidFill>
                <a:latin typeface="Calibri"/>
              </a:defRPr>
            </a:pPr>
            <a:r>
              <a:t>Implication: interventions target the whole circuit, not per-token</a:t>
            </a:r>
          </a:p>
          <a:p>
            <a:pPr lvl="1">
              <a:spcAft>
                <a:spcPts val="800"/>
              </a:spcAft>
              <a:defRPr sz="1300">
                <a:solidFill>
                  <a:srgbClr val="616161"/>
                </a:solidFill>
                <a:latin typeface="Calibri"/>
              </a:defRPr>
            </a:pPr>
            <a:r>
              <a:t>Cannot selectively boost one answer without affecting all</a:t>
            </a:r>
          </a:p>
        </p:txBody>
      </p:sp>
      <p:sp>
        <p:nvSpPr>
          <p:cNvPr id="5" name="TextBox 4"/>
          <p:cNvSpPr txBox="1"/>
          <p:nvPr/>
        </p:nvSpPr>
        <p:spPr>
          <a:xfrm>
            <a:off x="10515600" y="6492240"/>
            <a:ext cx="1371600" cy="274320"/>
          </a:xfrm>
          <a:prstGeom prst="rect">
            <a:avLst/>
          </a:prstGeom>
          <a:noFill/>
        </p:spPr>
        <p:txBody>
          <a:bodyPr wrap="none">
            <a:spAutoFit/>
          </a:bodyPr>
          <a:lstStyle/>
          <a:p>
            <a:pPr algn="r">
              <a:defRPr sz="1000">
                <a:solidFill>
                  <a:srgbClr val="616161"/>
                </a:solidFill>
                <a:latin typeface="Calibri"/>
              </a:defRPr>
            </a:pPr>
            <a:r>
              <a:t>10 / 14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91440"/>
          <a:lstStyle/>
          <a:p>
            <a:pPr algn="l">
              <a:defRPr sz="1600" b="1">
                <a:solidFill>
                  <a:srgbClr val="FFFFFF"/>
                </a:solidFill>
                <a:latin typeface="Calibri"/>
              </a:defRPr>
            </a:pPr>
            <a:r>
              <a:t>  Key limitations: linear attribution, SAE fidelity, limited prompt diversity</a:t>
            </a:r>
          </a:p>
        </p:txBody>
      </p:sp>
      <p:sp>
        <p:nvSpPr>
          <p:cNvPr id="3" name="TextBox 2"/>
          <p:cNvSpPr txBox="1"/>
          <p:nvPr/>
        </p:nvSpPr>
        <p:spPr>
          <a:xfrm>
            <a:off x="457200" y="685800"/>
            <a:ext cx="10972800" cy="548640"/>
          </a:xfrm>
          <a:prstGeom prst="rect">
            <a:avLst/>
          </a:prstGeom>
          <a:noFill/>
        </p:spPr>
        <p:txBody>
          <a:bodyPr wrap="none">
            <a:spAutoFit/>
          </a:bodyPr>
          <a:lstStyle/>
          <a:p>
            <a:pPr>
              <a:defRPr sz="2800" b="1">
                <a:solidFill>
                  <a:srgbClr val="212121"/>
                </a:solidFill>
                <a:latin typeface="Calibri"/>
              </a:defRPr>
            </a:pPr>
            <a:r>
              <a:t>Caveats &amp; What's Still Uncertain</a:t>
            </a:r>
          </a:p>
        </p:txBody>
      </p:sp>
      <p:sp>
        <p:nvSpPr>
          <p:cNvPr id="4" name="TextBox 3"/>
          <p:cNvSpPr txBox="1"/>
          <p:nvPr/>
        </p:nvSpPr>
        <p:spPr>
          <a:xfrm>
            <a:off x="457200" y="1371600"/>
            <a:ext cx="10972800" cy="4572000"/>
          </a:xfrm>
          <a:prstGeom prst="rect">
            <a:avLst/>
          </a:prstGeom>
          <a:noFill/>
        </p:spPr>
        <p:txBody>
          <a:bodyPr wrap="square">
            <a:spAutoFit/>
          </a:bodyPr>
          <a:lstStyle/>
          <a:p>
            <a:pPr>
              <a:spcAft>
                <a:spcPts val="800"/>
              </a:spcAft>
              <a:defRPr sz="1500" b="0">
                <a:solidFill>
                  <a:srgbClr val="212121"/>
                </a:solidFill>
                <a:latin typeface="Calibri"/>
              </a:defRPr>
            </a:pPr>
            <a:r>
              <a:t>Linear attribution assumption</a:t>
            </a:r>
          </a:p>
          <a:p>
            <a:pPr lvl="1">
              <a:spcAft>
                <a:spcPts val="800"/>
              </a:spcAft>
              <a:defRPr sz="1300">
                <a:solidFill>
                  <a:srgbClr val="616161"/>
                </a:solidFill>
                <a:latin typeface="Calibri"/>
              </a:defRPr>
            </a:pPr>
            <a:r>
              <a:t>Edges = linear contribution; non-linear interactions not captured</a:t>
            </a:r>
          </a:p>
          <a:p>
            <a:pPr lvl="1">
              <a:spcAft>
                <a:spcPts val="800"/>
              </a:spcAft>
              <a:defRPr sz="1300">
                <a:solidFill>
                  <a:srgbClr val="616161"/>
                </a:solidFill>
                <a:latin typeface="Calibri"/>
              </a:defRPr>
            </a:pPr>
            <a:r>
              <a:t>LayerNorm, attention softmax create non-linearities we approximate</a:t>
            </a:r>
          </a:p>
          <a:p>
            <a:pPr>
              <a:spcAft>
                <a:spcPts val="800"/>
              </a:spcAft>
              <a:defRPr sz="1500" b="0">
                <a:solidFill>
                  <a:srgbClr val="212121"/>
                </a:solidFill>
                <a:latin typeface="Calibri"/>
              </a:defRPr>
            </a:pPr>
          </a:p>
          <a:p>
            <a:pPr>
              <a:spcAft>
                <a:spcPts val="800"/>
              </a:spcAft>
              <a:defRPr sz="1500" b="0">
                <a:solidFill>
                  <a:srgbClr val="212121"/>
                </a:solidFill>
                <a:latin typeface="Calibri"/>
              </a:defRPr>
            </a:pPr>
            <a:r>
              <a:t>SAE reconstruction fidelity (~90%)</a:t>
            </a:r>
          </a:p>
          <a:p>
            <a:pPr lvl="1">
              <a:spcAft>
                <a:spcPts val="800"/>
              </a:spcAft>
              <a:defRPr sz="1300">
                <a:solidFill>
                  <a:srgbClr val="616161"/>
                </a:solidFill>
                <a:latin typeface="Calibri"/>
              </a:defRPr>
            </a:pPr>
            <a:r>
              <a:t>~10% of information lost in sparse autoencoder decomposition</a:t>
            </a:r>
          </a:p>
          <a:p>
            <a:pPr lvl="1">
              <a:spcAft>
                <a:spcPts val="800"/>
              </a:spcAft>
              <a:defRPr sz="1300">
                <a:solidFill>
                  <a:srgbClr val="616161"/>
                </a:solidFill>
                <a:latin typeface="Calibri"/>
              </a:defRPr>
            </a:pPr>
            <a:r>
              <a:t>Some features may be polysemantic (encode multiple concepts)</a:t>
            </a:r>
          </a:p>
          <a:p>
            <a:pPr>
              <a:spcAft>
                <a:spcPts val="800"/>
              </a:spcAft>
              <a:defRPr sz="1500" b="0">
                <a:solidFill>
                  <a:srgbClr val="212121"/>
                </a:solidFill>
                <a:latin typeface="Calibri"/>
              </a:defRPr>
            </a:pPr>
          </a:p>
          <a:p>
            <a:pPr>
              <a:spcAft>
                <a:spcPts val="800"/>
              </a:spcAft>
              <a:defRPr sz="1500" b="0">
                <a:solidFill>
                  <a:srgbClr val="212121"/>
                </a:solidFill>
                <a:latin typeface="Calibri"/>
              </a:defRPr>
            </a:pPr>
            <a:r>
              <a:t>Prompt diversity</a:t>
            </a:r>
          </a:p>
          <a:p>
            <a:pPr lvl="1">
              <a:spcAft>
                <a:spcPts val="800"/>
              </a:spcAft>
              <a:defRPr sz="1300">
                <a:solidFill>
                  <a:srgbClr val="616161"/>
                </a:solidFill>
                <a:latin typeface="Calibri"/>
              </a:defRPr>
            </a:pPr>
            <a:r>
              <a:t>Deep analysis on ~5 prompts per model; need broader coverage</a:t>
            </a:r>
          </a:p>
          <a:p>
            <a:pPr lvl="1">
              <a:spcAft>
                <a:spcPts val="800"/>
              </a:spcAft>
              <a:defRPr sz="1300">
                <a:solidFill>
                  <a:srgbClr val="616161"/>
                </a:solidFill>
                <a:latin typeface="Calibri"/>
              </a:defRPr>
            </a:pPr>
            <a:r>
              <a:t>Arithmetic prompts show both models fail (below emergence threshold)</a:t>
            </a:r>
          </a:p>
          <a:p>
            <a:pPr>
              <a:spcAft>
                <a:spcPts val="800"/>
              </a:spcAft>
              <a:defRPr sz="1500" b="0">
                <a:solidFill>
                  <a:srgbClr val="212121"/>
                </a:solidFill>
                <a:latin typeface="Calibri"/>
              </a:defRPr>
            </a:pPr>
          </a:p>
          <a:p>
            <a:pPr>
              <a:spcAft>
                <a:spcPts val="800"/>
              </a:spcAft>
              <a:defRPr sz="1500" b="0">
                <a:solidFill>
                  <a:srgbClr val="212121"/>
                </a:solidFill>
                <a:latin typeface="Calibri"/>
              </a:defRPr>
            </a:pPr>
            <a:r>
              <a:t>Causal validation pending</a:t>
            </a:r>
          </a:p>
          <a:p>
            <a:pPr lvl="1">
              <a:spcAft>
                <a:spcPts val="800"/>
              </a:spcAft>
              <a:defRPr sz="1300">
                <a:solidFill>
                  <a:srgbClr val="616161"/>
                </a:solidFill>
                <a:latin typeface="Calibri"/>
              </a:defRPr>
            </a:pPr>
            <a:r>
              <a:t>Bottlenecks identified correlatively; ablation experiments needed</a:t>
            </a:r>
          </a:p>
        </p:txBody>
      </p:sp>
      <p:sp>
        <p:nvSpPr>
          <p:cNvPr id="5" name="TextBox 4"/>
          <p:cNvSpPr txBox="1"/>
          <p:nvPr/>
        </p:nvSpPr>
        <p:spPr>
          <a:xfrm>
            <a:off x="10515600" y="6492240"/>
            <a:ext cx="1371600" cy="274320"/>
          </a:xfrm>
          <a:prstGeom prst="rect">
            <a:avLst/>
          </a:prstGeom>
          <a:noFill/>
        </p:spPr>
        <p:txBody>
          <a:bodyPr wrap="none">
            <a:spAutoFit/>
          </a:bodyPr>
          <a:lstStyle/>
          <a:p>
            <a:pPr algn="r">
              <a:defRPr sz="1000">
                <a:solidFill>
                  <a:srgbClr val="616161"/>
                </a:solidFill>
                <a:latin typeface="Calibri"/>
              </a:defRPr>
            </a:pPr>
            <a:r>
              <a:t>11 / 14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91440"/>
          <a:lstStyle/>
          <a:p>
            <a:pPr algn="l">
              <a:defRPr sz="1600" b="1">
                <a:solidFill>
                  <a:srgbClr val="FFFFFF"/>
                </a:solidFill>
                <a:latin typeface="Calibri"/>
              </a:defRPr>
            </a:pPr>
            <a:r>
              <a:t>  Validation in progress: multi-algorithm comparison + semantic taxonomy annotation</a:t>
            </a:r>
          </a:p>
        </p:txBody>
      </p:sp>
      <p:sp>
        <p:nvSpPr>
          <p:cNvPr id="3" name="TextBox 2"/>
          <p:cNvSpPr txBox="1"/>
          <p:nvPr/>
        </p:nvSpPr>
        <p:spPr>
          <a:xfrm>
            <a:off x="457200" y="685800"/>
            <a:ext cx="10972800" cy="548640"/>
          </a:xfrm>
          <a:prstGeom prst="rect">
            <a:avLst/>
          </a:prstGeom>
          <a:noFill/>
        </p:spPr>
        <p:txBody>
          <a:bodyPr wrap="none">
            <a:spAutoFit/>
          </a:bodyPr>
          <a:lstStyle/>
          <a:p>
            <a:pPr>
              <a:defRPr sz="2800" b="1">
                <a:solidFill>
                  <a:srgbClr val="212121"/>
                </a:solidFill>
                <a:latin typeface="Calibri"/>
              </a:defRPr>
            </a:pPr>
            <a:r>
              <a:t>Validation Plan (In Progress)</a:t>
            </a:r>
          </a:p>
        </p:txBody>
      </p:sp>
      <p:sp>
        <p:nvSpPr>
          <p:cNvPr id="4" name="TextBox 3"/>
          <p:cNvSpPr txBox="1"/>
          <p:nvPr/>
        </p:nvSpPr>
        <p:spPr>
          <a:xfrm>
            <a:off x="457200" y="1371600"/>
            <a:ext cx="5303520" cy="4572000"/>
          </a:xfrm>
          <a:prstGeom prst="rect">
            <a:avLst/>
          </a:prstGeom>
          <a:noFill/>
        </p:spPr>
        <p:txBody>
          <a:bodyPr wrap="square">
            <a:spAutoFit/>
          </a:bodyPr>
          <a:lstStyle/>
          <a:p>
            <a:pPr>
              <a:spcAft>
                <a:spcPts val="800"/>
              </a:spcAft>
              <a:defRPr sz="1500" b="0">
                <a:solidFill>
                  <a:srgbClr val="212121"/>
                </a:solidFill>
                <a:latin typeface="Calibri"/>
              </a:defRPr>
            </a:pPr>
            <a:r>
              <a:t>Algorithm Validation</a:t>
            </a:r>
          </a:p>
          <a:p>
            <a:pPr lvl="1">
              <a:spcAft>
                <a:spcPts val="800"/>
              </a:spcAft>
              <a:defRPr sz="1300">
                <a:solidFill>
                  <a:srgbClr val="616161"/>
                </a:solidFill>
                <a:latin typeface="Calibri"/>
              </a:defRPr>
            </a:pPr>
            <a:r>
              <a:t>Multi-algorithm analysis: compare traceback</a:t>
            </a:r>
          </a:p>
          <a:p>
            <a:pPr lvl="1">
              <a:spcAft>
                <a:spcPts val="800"/>
              </a:spcAft>
              <a:defRPr sz="1300">
                <a:solidFill>
                  <a:srgbClr val="616161"/>
                </a:solidFill>
                <a:latin typeface="Calibri"/>
              </a:defRPr>
            </a:pPr>
            <a:r>
              <a:t>  vs betweenness centrality vs PageRank</a:t>
            </a:r>
          </a:p>
          <a:p>
            <a:pPr lvl="1">
              <a:spcAft>
                <a:spcPts val="800"/>
              </a:spcAft>
              <a:defRPr sz="1300">
                <a:solidFill>
                  <a:srgbClr val="616161"/>
                </a:solidFill>
                <a:latin typeface="Calibri"/>
              </a:defRPr>
            </a:pPr>
            <a:r>
              <a:t>Jaccard similarity between methods</a:t>
            </a:r>
          </a:p>
          <a:p>
            <a:pPr lvl="1">
              <a:spcAft>
                <a:spcPts val="800"/>
              </a:spcAft>
              <a:defRPr sz="1300">
                <a:solidFill>
                  <a:srgbClr val="616161"/>
                </a:solidFill>
                <a:latin typeface="Calibri"/>
              </a:defRPr>
            </a:pPr>
            <a:r>
              <a:t>Convergence proof visualizations</a:t>
            </a:r>
          </a:p>
          <a:p>
            <a:pPr lvl="1">
              <a:spcAft>
                <a:spcPts val="800"/>
              </a:spcAft>
              <a:defRPr sz="1300">
                <a:solidFill>
                  <a:srgbClr val="616161"/>
                </a:solidFill>
                <a:latin typeface="Calibri"/>
              </a:defRPr>
            </a:pPr>
            <a:r>
              <a:t>Already completed for 3 prompts</a:t>
            </a:r>
          </a:p>
        </p:txBody>
      </p:sp>
      <p:sp>
        <p:nvSpPr>
          <p:cNvPr id="5" name="TextBox 4"/>
          <p:cNvSpPr txBox="1"/>
          <p:nvPr/>
        </p:nvSpPr>
        <p:spPr>
          <a:xfrm>
            <a:off x="6217920" y="1371600"/>
            <a:ext cx="5303520" cy="4572000"/>
          </a:xfrm>
          <a:prstGeom prst="rect">
            <a:avLst/>
          </a:prstGeom>
          <a:noFill/>
        </p:spPr>
        <p:txBody>
          <a:bodyPr wrap="square">
            <a:spAutoFit/>
          </a:bodyPr>
          <a:lstStyle/>
          <a:p>
            <a:pPr>
              <a:spcAft>
                <a:spcPts val="800"/>
              </a:spcAft>
              <a:defRPr sz="1500" b="0">
                <a:solidFill>
                  <a:srgbClr val="212121"/>
                </a:solidFill>
                <a:latin typeface="Calibri"/>
              </a:defRPr>
            </a:pPr>
            <a:r>
              <a:t>Semantic Taxonomy</a:t>
            </a:r>
          </a:p>
          <a:p>
            <a:pPr lvl="1">
              <a:spcAft>
                <a:spcPts val="800"/>
              </a:spcAft>
              <a:defRPr sz="1300">
                <a:solidFill>
                  <a:srgbClr val="616161"/>
                </a:solidFill>
                <a:latin typeface="Calibri"/>
              </a:defRPr>
            </a:pPr>
            <a:r>
              <a:t>Classify top features: SYNTAX / SEMANTICS</a:t>
            </a:r>
          </a:p>
          <a:p>
            <a:pPr lvl="1">
              <a:spcAft>
                <a:spcPts val="800"/>
              </a:spcAft>
              <a:defRPr sz="1300">
                <a:solidFill>
                  <a:srgbClr val="616161"/>
                </a:solidFill>
                <a:latin typeface="Calibri"/>
              </a:defRPr>
            </a:pPr>
            <a:r>
              <a:t>Sub-categories: Geographic, Temporal, Entity</a:t>
            </a:r>
          </a:p>
          <a:p>
            <a:pPr lvl="1">
              <a:spcAft>
                <a:spcPts val="800"/>
              </a:spcAft>
              <a:defRPr sz="1300">
                <a:solidFill>
                  <a:srgbClr val="616161"/>
                </a:solidFill>
                <a:latin typeface="Calibri"/>
              </a:defRPr>
            </a:pPr>
            <a:r>
              <a:t>Inter-rater reliability target: kappa &gt; 0.7</a:t>
            </a:r>
          </a:p>
          <a:p>
            <a:pPr lvl="1">
              <a:spcAft>
                <a:spcPts val="800"/>
              </a:spcAft>
              <a:defRPr sz="1300">
                <a:solidFill>
                  <a:srgbClr val="616161"/>
                </a:solidFill>
                <a:latin typeface="Calibri"/>
              </a:defRPr>
            </a:pPr>
            <a:r>
              <a:t>Track semantic flow through bottleneck</a:t>
            </a:r>
          </a:p>
          <a:p>
            <a:pPr lvl="1">
              <a:spcAft>
                <a:spcPts val="800"/>
              </a:spcAft>
              <a:defRPr sz="1300">
                <a:solidFill>
                  <a:srgbClr val="616161"/>
                </a:solidFill>
                <a:latin typeface="Calibri"/>
              </a:defRPr>
            </a:pPr>
            <a:r>
              <a:t>Annotation CSV in progress</a:t>
            </a:r>
          </a:p>
        </p:txBody>
      </p:sp>
      <p:pic>
        <p:nvPicPr>
          <p:cNvPr id="6" name="Picture 5" descr="validation_algorithm_comparison.png"/>
          <p:cNvPicPr>
            <a:picLocks noChangeAspect="1"/>
          </p:cNvPicPr>
          <p:nvPr/>
        </p:nvPicPr>
        <p:blipFill>
          <a:blip r:embed="rId2"/>
          <a:stretch>
            <a:fillRect/>
          </a:stretch>
        </p:blipFill>
        <p:spPr>
          <a:xfrm>
            <a:off x="457200" y="4114800"/>
            <a:ext cx="3474720" cy="2286000"/>
          </a:xfrm>
          <a:prstGeom prst="rect">
            <a:avLst/>
          </a:prstGeom>
        </p:spPr>
      </p:pic>
      <p:pic>
        <p:nvPicPr>
          <p:cNvPr id="7" name="Picture 6" descr="validation_jaccard_heatmap.png"/>
          <p:cNvPicPr>
            <a:picLocks noChangeAspect="1"/>
          </p:cNvPicPr>
          <p:nvPr/>
        </p:nvPicPr>
        <p:blipFill>
          <a:blip r:embed="rId3"/>
          <a:stretch>
            <a:fillRect/>
          </a:stretch>
        </p:blipFill>
        <p:spPr>
          <a:xfrm>
            <a:off x="4206240" y="4114800"/>
            <a:ext cx="3474720" cy="2286000"/>
          </a:xfrm>
          <a:prstGeom prst="rect">
            <a:avLst/>
          </a:prstGeom>
        </p:spPr>
      </p:pic>
      <p:pic>
        <p:nvPicPr>
          <p:cNvPr id="8" name="Picture 7" descr="validation_convergence_proof.png"/>
          <p:cNvPicPr>
            <a:picLocks noChangeAspect="1"/>
          </p:cNvPicPr>
          <p:nvPr/>
        </p:nvPicPr>
        <p:blipFill>
          <a:blip r:embed="rId4"/>
          <a:stretch>
            <a:fillRect/>
          </a:stretch>
        </p:blipFill>
        <p:spPr>
          <a:xfrm>
            <a:off x="7955279" y="4114800"/>
            <a:ext cx="3474720" cy="2286000"/>
          </a:xfrm>
          <a:prstGeom prst="rect">
            <a:avLst/>
          </a:prstGeom>
        </p:spPr>
      </p:pic>
      <p:sp>
        <p:nvSpPr>
          <p:cNvPr id="9" name="TextBox 8"/>
          <p:cNvSpPr txBox="1"/>
          <p:nvPr/>
        </p:nvSpPr>
        <p:spPr>
          <a:xfrm>
            <a:off x="10515600" y="6492240"/>
            <a:ext cx="1371600" cy="274320"/>
          </a:xfrm>
          <a:prstGeom prst="rect">
            <a:avLst/>
          </a:prstGeom>
          <a:noFill/>
        </p:spPr>
        <p:txBody>
          <a:bodyPr wrap="none">
            <a:spAutoFit/>
          </a:bodyPr>
          <a:lstStyle/>
          <a:p>
            <a:pPr algn="r">
              <a:defRPr sz="1000">
                <a:solidFill>
                  <a:srgbClr val="616161"/>
                </a:solidFill>
                <a:latin typeface="Calibri"/>
              </a:defRPr>
            </a:pPr>
            <a:r>
              <a:t>12 / 14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91440"/>
          <a:lstStyle/>
          <a:p>
            <a:pPr algn="l">
              <a:defRPr sz="1600" b="1">
                <a:solidFill>
                  <a:srgbClr val="FFFFFF"/>
                </a:solidFill>
                <a:latin typeface="Calibri"/>
              </a:defRPr>
            </a:pPr>
            <a:r>
              <a:t>  Next 4 weeks: complete validation, run ablations, expand to more models</a:t>
            </a:r>
          </a:p>
        </p:txBody>
      </p:sp>
      <p:sp>
        <p:nvSpPr>
          <p:cNvPr id="3" name="TextBox 2"/>
          <p:cNvSpPr txBox="1"/>
          <p:nvPr/>
        </p:nvSpPr>
        <p:spPr>
          <a:xfrm>
            <a:off x="457200" y="685800"/>
            <a:ext cx="10972800" cy="548640"/>
          </a:xfrm>
          <a:prstGeom prst="rect">
            <a:avLst/>
          </a:prstGeom>
          <a:noFill/>
        </p:spPr>
        <p:txBody>
          <a:bodyPr wrap="none">
            <a:spAutoFit/>
          </a:bodyPr>
          <a:lstStyle/>
          <a:p>
            <a:pPr>
              <a:defRPr sz="2800" b="1">
                <a:solidFill>
                  <a:srgbClr val="212121"/>
                </a:solidFill>
                <a:latin typeface="Calibri"/>
              </a:defRPr>
            </a:pPr>
            <a:r>
              <a:t>Next Steps &amp; Timeline</a:t>
            </a:r>
          </a:p>
        </p:txBody>
      </p:sp>
      <p:sp>
        <p:nvSpPr>
          <p:cNvPr id="4" name="TextBox 3"/>
          <p:cNvSpPr txBox="1"/>
          <p:nvPr/>
        </p:nvSpPr>
        <p:spPr>
          <a:xfrm>
            <a:off x="457200" y="1371600"/>
            <a:ext cx="10972800" cy="4572000"/>
          </a:xfrm>
          <a:prstGeom prst="rect">
            <a:avLst/>
          </a:prstGeom>
          <a:noFill/>
        </p:spPr>
        <p:txBody>
          <a:bodyPr wrap="square">
            <a:spAutoFit/>
          </a:bodyPr>
          <a:lstStyle/>
          <a:p>
            <a:pPr>
              <a:spcAft>
                <a:spcPts val="800"/>
              </a:spcAft>
              <a:defRPr sz="1500" b="0">
                <a:solidFill>
                  <a:srgbClr val="212121"/>
                </a:solidFill>
                <a:latin typeface="Calibri"/>
              </a:defRPr>
            </a:pPr>
            <a:r>
              <a:t>Weeks 1-2: Complete Validation</a:t>
            </a:r>
          </a:p>
          <a:p>
            <a:pPr lvl="1">
              <a:spcAft>
                <a:spcPts val="800"/>
              </a:spcAft>
              <a:defRPr sz="1300">
                <a:solidFill>
                  <a:srgbClr val="616161"/>
                </a:solidFill>
                <a:latin typeface="Calibri"/>
              </a:defRPr>
            </a:pPr>
            <a:r>
              <a:t>Finish semantic taxonomy annotation (top 100 features)</a:t>
            </a:r>
          </a:p>
          <a:p>
            <a:pPr lvl="1">
              <a:spcAft>
                <a:spcPts val="800"/>
              </a:spcAft>
              <a:defRPr sz="1300">
                <a:solidFill>
                  <a:srgbClr val="616161"/>
                </a:solidFill>
                <a:latin typeface="Calibri"/>
              </a:defRPr>
            </a:pPr>
            <a:r>
              <a:t>Complete QWEN traceback for remaining prompts</a:t>
            </a:r>
          </a:p>
          <a:p>
            <a:pPr lvl="1">
              <a:spcAft>
                <a:spcPts val="800"/>
              </a:spcAft>
              <a:defRPr sz="1300">
                <a:solidFill>
                  <a:srgbClr val="616161"/>
                </a:solidFill>
                <a:latin typeface="Calibri"/>
              </a:defRPr>
            </a:pPr>
            <a:r>
              <a:t>Generate cross-prompt bottleneck comparison table</a:t>
            </a:r>
          </a:p>
          <a:p>
            <a:pPr>
              <a:spcAft>
                <a:spcPts val="800"/>
              </a:spcAft>
              <a:defRPr sz="1500" b="0">
                <a:solidFill>
                  <a:srgbClr val="212121"/>
                </a:solidFill>
                <a:latin typeface="Calibri"/>
              </a:defRPr>
            </a:pPr>
          </a:p>
          <a:p>
            <a:pPr>
              <a:spcAft>
                <a:spcPts val="800"/>
              </a:spcAft>
              <a:defRPr sz="1500" b="0">
                <a:solidFill>
                  <a:srgbClr val="212121"/>
                </a:solidFill>
                <a:latin typeface="Calibri"/>
              </a:defRPr>
            </a:pPr>
            <a:r>
              <a:t>Weeks 3-4: Causal Experiments</a:t>
            </a:r>
          </a:p>
          <a:p>
            <a:pPr lvl="1">
              <a:spcAft>
                <a:spcPts val="800"/>
              </a:spcAft>
              <a:defRPr sz="1300">
                <a:solidFill>
                  <a:srgbClr val="616161"/>
                </a:solidFill>
                <a:latin typeface="Calibri"/>
              </a:defRPr>
            </a:pPr>
            <a:r>
              <a:t>Ablation: zero out bottleneck features, measure accuracy change</a:t>
            </a:r>
          </a:p>
          <a:p>
            <a:pPr lvl="1">
              <a:spcAft>
                <a:spcPts val="800"/>
              </a:spcAft>
              <a:defRPr sz="1300">
                <a:solidFill>
                  <a:srgbClr val="616161"/>
                </a:solidFill>
                <a:latin typeface="Calibri"/>
              </a:defRPr>
            </a:pPr>
            <a:r>
              <a:t>Amplification: boost geographic features at layer before bottleneck</a:t>
            </a:r>
          </a:p>
          <a:p>
            <a:pPr lvl="1">
              <a:spcAft>
                <a:spcPts val="800"/>
              </a:spcAft>
              <a:defRPr sz="1300">
                <a:solidFill>
                  <a:srgbClr val="616161"/>
                </a:solidFill>
                <a:latin typeface="Calibri"/>
              </a:defRPr>
            </a:pPr>
            <a:r>
              <a:t>Quantify information loss with mutual information estimates</a:t>
            </a:r>
          </a:p>
          <a:p>
            <a:pPr>
              <a:spcAft>
                <a:spcPts val="800"/>
              </a:spcAft>
              <a:defRPr sz="1500" b="0">
                <a:solidFill>
                  <a:srgbClr val="212121"/>
                </a:solidFill>
                <a:latin typeface="Calibri"/>
              </a:defRPr>
            </a:pPr>
          </a:p>
          <a:p>
            <a:pPr>
              <a:spcAft>
                <a:spcPts val="800"/>
              </a:spcAft>
              <a:defRPr sz="1500" b="0">
                <a:solidFill>
                  <a:srgbClr val="212121"/>
                </a:solidFill>
                <a:latin typeface="Calibri"/>
              </a:defRPr>
            </a:pPr>
            <a:r>
              <a:t>Ongoing: Extend Scope</a:t>
            </a:r>
          </a:p>
          <a:p>
            <a:pPr lvl="1">
              <a:spcAft>
                <a:spcPts val="800"/>
              </a:spcAft>
              <a:defRPr sz="1300">
                <a:solidFill>
                  <a:srgbClr val="616161"/>
                </a:solidFill>
                <a:latin typeface="Calibri"/>
              </a:defRPr>
            </a:pPr>
            <a:r>
              <a:t>Add 3+ prompt categories (code, reasoning, multi-hop)</a:t>
            </a:r>
          </a:p>
          <a:p>
            <a:pPr lvl="1">
              <a:spcAft>
                <a:spcPts val="800"/>
              </a:spcAft>
              <a:defRPr sz="1300">
                <a:solidFill>
                  <a:srgbClr val="616161"/>
                </a:solidFill>
                <a:latin typeface="Calibri"/>
              </a:defRPr>
            </a:pPr>
            <a:r>
              <a:t>Test on Llama-3 (8B) for larger model comparison</a:t>
            </a:r>
          </a:p>
          <a:p>
            <a:pPr lvl="1">
              <a:spcAft>
                <a:spcPts val="800"/>
              </a:spcAft>
              <a:defRPr sz="1300">
                <a:solidFill>
                  <a:srgbClr val="616161"/>
                </a:solidFill>
                <a:latin typeface="Calibri"/>
              </a:defRPr>
            </a:pPr>
            <a:r>
              <a:t>Format paper draft for workshop submission</a:t>
            </a:r>
          </a:p>
        </p:txBody>
      </p:sp>
      <p:sp>
        <p:nvSpPr>
          <p:cNvPr id="5" name="TextBox 4"/>
          <p:cNvSpPr txBox="1"/>
          <p:nvPr/>
        </p:nvSpPr>
        <p:spPr>
          <a:xfrm>
            <a:off x="10515600" y="6492240"/>
            <a:ext cx="1371600" cy="274320"/>
          </a:xfrm>
          <a:prstGeom prst="rect">
            <a:avLst/>
          </a:prstGeom>
          <a:noFill/>
        </p:spPr>
        <p:txBody>
          <a:bodyPr wrap="none">
            <a:spAutoFit/>
          </a:bodyPr>
          <a:lstStyle/>
          <a:p>
            <a:pPr algn="r">
              <a:defRPr sz="1000">
                <a:solidFill>
                  <a:srgbClr val="616161"/>
                </a:solidFill>
                <a:latin typeface="Calibri"/>
              </a:defRPr>
            </a:pPr>
            <a:r>
              <a:t>13 / 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91440"/>
          <a:lstStyle/>
          <a:p>
            <a:pPr algn="l">
              <a:defRPr sz="1600" b="1">
                <a:solidFill>
                  <a:srgbClr val="FFFFFF"/>
                </a:solidFill>
                <a:latin typeface="Calibri"/>
              </a:defRPr>
            </a:pPr>
            <a:r>
              <a:t>  I need feedback on: validation criteria, ablation priorities, and submission target</a:t>
            </a:r>
          </a:p>
        </p:txBody>
      </p:sp>
      <p:sp>
        <p:nvSpPr>
          <p:cNvPr id="3" name="TextBox 2"/>
          <p:cNvSpPr txBox="1"/>
          <p:nvPr/>
        </p:nvSpPr>
        <p:spPr>
          <a:xfrm>
            <a:off x="457200" y="685800"/>
            <a:ext cx="10972800" cy="548640"/>
          </a:xfrm>
          <a:prstGeom prst="rect">
            <a:avLst/>
          </a:prstGeom>
          <a:noFill/>
        </p:spPr>
        <p:txBody>
          <a:bodyPr wrap="none">
            <a:spAutoFit/>
          </a:bodyPr>
          <a:lstStyle/>
          <a:p>
            <a:pPr>
              <a:defRPr sz="2800" b="1">
                <a:solidFill>
                  <a:srgbClr val="212121"/>
                </a:solidFill>
                <a:latin typeface="Calibri"/>
              </a:defRPr>
            </a:pPr>
            <a:r>
              <a:t>Asks &amp; Decisions Needed</a:t>
            </a:r>
          </a:p>
        </p:txBody>
      </p:sp>
      <p:sp>
        <p:nvSpPr>
          <p:cNvPr id="4" name="TextBox 3"/>
          <p:cNvSpPr txBox="1"/>
          <p:nvPr/>
        </p:nvSpPr>
        <p:spPr>
          <a:xfrm>
            <a:off x="457200" y="1371600"/>
            <a:ext cx="10972800" cy="4572000"/>
          </a:xfrm>
          <a:prstGeom prst="rect">
            <a:avLst/>
          </a:prstGeom>
          <a:noFill/>
        </p:spPr>
        <p:txBody>
          <a:bodyPr wrap="square">
            <a:spAutoFit/>
          </a:bodyPr>
          <a:lstStyle/>
          <a:p>
            <a:pPr>
              <a:spcAft>
                <a:spcPts val="800"/>
              </a:spcAft>
              <a:defRPr sz="1500" b="0">
                <a:solidFill>
                  <a:srgbClr val="212121"/>
                </a:solidFill>
                <a:latin typeface="Calibri"/>
              </a:defRPr>
            </a:pPr>
            <a:r>
              <a:t>1. Validation acceptance criteria</a:t>
            </a:r>
          </a:p>
          <a:p>
            <a:pPr lvl="1">
              <a:spcAft>
                <a:spcPts val="800"/>
              </a:spcAft>
              <a:defRPr sz="1300">
                <a:solidFill>
                  <a:srgbClr val="616161"/>
                </a:solidFill>
                <a:latin typeface="Calibri"/>
              </a:defRPr>
            </a:pPr>
            <a:r>
              <a:t>Is kappa &gt; 0.7 for semantic taxonomy sufficient?</a:t>
            </a:r>
          </a:p>
          <a:p>
            <a:pPr lvl="1">
              <a:spcAft>
                <a:spcPts val="800"/>
              </a:spcAft>
              <a:defRPr sz="1300">
                <a:solidFill>
                  <a:srgbClr val="616161"/>
                </a:solidFill>
                <a:latin typeface="Calibri"/>
              </a:defRPr>
            </a:pPr>
            <a:r>
              <a:t>What Jaccard threshold confirms algorithm agreement?</a:t>
            </a:r>
          </a:p>
          <a:p>
            <a:pPr>
              <a:spcAft>
                <a:spcPts val="800"/>
              </a:spcAft>
              <a:defRPr sz="1500" b="0">
                <a:solidFill>
                  <a:srgbClr val="212121"/>
                </a:solidFill>
                <a:latin typeface="Calibri"/>
              </a:defRPr>
            </a:pPr>
          </a:p>
          <a:p>
            <a:pPr>
              <a:spcAft>
                <a:spcPts val="800"/>
              </a:spcAft>
              <a:defRPr sz="1500" b="0">
                <a:solidFill>
                  <a:srgbClr val="212121"/>
                </a:solidFill>
                <a:latin typeface="Calibri"/>
              </a:defRPr>
            </a:pPr>
            <a:r>
              <a:t>2. Ablation experiment priority</a:t>
            </a:r>
          </a:p>
          <a:p>
            <a:pPr lvl="1">
              <a:spcAft>
                <a:spcPts val="800"/>
              </a:spcAft>
              <a:defRPr sz="1300">
                <a:solidFill>
                  <a:srgbClr val="616161"/>
                </a:solidFill>
                <a:latin typeface="Calibri"/>
              </a:defRPr>
            </a:pPr>
            <a:r>
              <a:t>Should we prioritize single-feature ablation or path ablation?</a:t>
            </a:r>
          </a:p>
          <a:p>
            <a:pPr lvl="1">
              <a:spcAft>
                <a:spcPts val="800"/>
              </a:spcAft>
              <a:defRPr sz="1300">
                <a:solidFill>
                  <a:srgbClr val="616161"/>
                </a:solidFill>
                <a:latin typeface="Calibri"/>
              </a:defRPr>
            </a:pPr>
            <a:r>
              <a:t>Which prompts are highest priority for causal testing?</a:t>
            </a:r>
          </a:p>
          <a:p>
            <a:pPr>
              <a:spcAft>
                <a:spcPts val="800"/>
              </a:spcAft>
              <a:defRPr sz="1500" b="0">
                <a:solidFill>
                  <a:srgbClr val="212121"/>
                </a:solidFill>
                <a:latin typeface="Calibri"/>
              </a:defRPr>
            </a:pPr>
          </a:p>
          <a:p>
            <a:pPr>
              <a:spcAft>
                <a:spcPts val="800"/>
              </a:spcAft>
              <a:defRPr sz="1500" b="0">
                <a:solidFill>
                  <a:srgbClr val="212121"/>
                </a:solidFill>
                <a:latin typeface="Calibri"/>
              </a:defRPr>
            </a:pPr>
            <a:r>
              <a:t>3. Submission target</a:t>
            </a:r>
          </a:p>
          <a:p>
            <a:pPr lvl="1">
              <a:spcAft>
                <a:spcPts val="800"/>
              </a:spcAft>
              <a:defRPr sz="1300">
                <a:solidFill>
                  <a:srgbClr val="616161"/>
                </a:solidFill>
                <a:latin typeface="Calibri"/>
              </a:defRPr>
            </a:pPr>
            <a:r>
              <a:t>Workshop paper (NeurIPS MechInterp) vs full paper (ICLR)?</a:t>
            </a:r>
          </a:p>
          <a:p>
            <a:pPr lvl="1">
              <a:spcAft>
                <a:spcPts val="800"/>
              </a:spcAft>
              <a:defRPr sz="1300">
                <a:solidFill>
                  <a:srgbClr val="616161"/>
                </a:solidFill>
                <a:latin typeface="Calibri"/>
              </a:defRPr>
            </a:pPr>
            <a:r>
              <a:t>Timeline implications: workshop = 4 weeks, full = 8-12 weeks</a:t>
            </a:r>
          </a:p>
          <a:p>
            <a:pPr>
              <a:spcAft>
                <a:spcPts val="800"/>
              </a:spcAft>
              <a:defRPr sz="1500" b="0">
                <a:solidFill>
                  <a:srgbClr val="212121"/>
                </a:solidFill>
                <a:latin typeface="Calibri"/>
              </a:defRPr>
            </a:pPr>
          </a:p>
          <a:p>
            <a:pPr>
              <a:spcAft>
                <a:spcPts val="800"/>
              </a:spcAft>
              <a:defRPr sz="1500" b="0">
                <a:solidFill>
                  <a:srgbClr val="212121"/>
                </a:solidFill>
                <a:latin typeface="Calibri"/>
              </a:defRPr>
            </a:pPr>
            <a:r>
              <a:t>4. Compute needs</a:t>
            </a:r>
          </a:p>
          <a:p>
            <a:pPr lvl="1">
              <a:spcAft>
                <a:spcPts val="800"/>
              </a:spcAft>
              <a:defRPr sz="1300">
                <a:solidFill>
                  <a:srgbClr val="616161"/>
                </a:solidFill>
                <a:latin typeface="Calibri"/>
              </a:defRPr>
            </a:pPr>
            <a:r>
              <a:t>Ablation experiments need model inference -- GPU access?</a:t>
            </a:r>
          </a:p>
          <a:p>
            <a:pPr lvl="1">
              <a:spcAft>
                <a:spcPts val="800"/>
              </a:spcAft>
              <a:defRPr sz="1300">
                <a:solidFill>
                  <a:srgbClr val="616161"/>
                </a:solidFill>
                <a:latin typeface="Calibri"/>
              </a:defRPr>
            </a:pPr>
            <a:r>
              <a:t>Extend to Llama-3 8B requires additional API access</a:t>
            </a:r>
          </a:p>
        </p:txBody>
      </p:sp>
      <p:sp>
        <p:nvSpPr>
          <p:cNvPr id="5" name="TextBox 4"/>
          <p:cNvSpPr txBox="1"/>
          <p:nvPr/>
        </p:nvSpPr>
        <p:spPr>
          <a:xfrm>
            <a:off x="10515600" y="6492240"/>
            <a:ext cx="1371600" cy="274320"/>
          </a:xfrm>
          <a:prstGeom prst="rect">
            <a:avLst/>
          </a:prstGeom>
          <a:noFill/>
        </p:spPr>
        <p:txBody>
          <a:bodyPr wrap="none">
            <a:spAutoFit/>
          </a:bodyPr>
          <a:lstStyle/>
          <a:p>
            <a:pPr algn="r">
              <a:defRPr sz="1000">
                <a:solidFill>
                  <a:srgbClr val="616161"/>
                </a:solidFill>
                <a:latin typeface="Calibri"/>
              </a:defRPr>
            </a:pPr>
            <a:r>
              <a:t>14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91440"/>
          <a:lstStyle/>
          <a:p>
            <a:pPr algn="l">
              <a:defRPr sz="1600" b="1">
                <a:solidFill>
                  <a:srgbClr val="FFFFFF"/>
                </a:solidFill>
                <a:latin typeface="Calibri"/>
              </a:defRPr>
            </a:pPr>
            <a:r>
              <a:t>  EXECUTIVE SUMMARY: Bottleneck position is a key architectural parameter for factual accuracy</a:t>
            </a:r>
          </a:p>
        </p:txBody>
      </p:sp>
      <p:sp>
        <p:nvSpPr>
          <p:cNvPr id="3" name="TextBox 2"/>
          <p:cNvSpPr txBox="1"/>
          <p:nvPr/>
        </p:nvSpPr>
        <p:spPr>
          <a:xfrm>
            <a:off x="457200" y="685800"/>
            <a:ext cx="10972800" cy="548640"/>
          </a:xfrm>
          <a:prstGeom prst="rect">
            <a:avLst/>
          </a:prstGeom>
          <a:noFill/>
        </p:spPr>
        <p:txBody>
          <a:bodyPr wrap="none">
            <a:spAutoFit/>
          </a:bodyPr>
          <a:lstStyle/>
          <a:p>
            <a:pPr>
              <a:defRPr sz="2800" b="1">
                <a:solidFill>
                  <a:srgbClr val="212121"/>
                </a:solidFill>
                <a:latin typeface="Calibri"/>
              </a:defRPr>
            </a:pPr>
            <a:r>
              <a:t>Executive Summary (Backup Slide)</a:t>
            </a:r>
          </a:p>
        </p:txBody>
      </p:sp>
      <p:sp>
        <p:nvSpPr>
          <p:cNvPr id="4" name="TextBox 3"/>
          <p:cNvSpPr txBox="1"/>
          <p:nvPr/>
        </p:nvSpPr>
        <p:spPr>
          <a:xfrm>
            <a:off x="457200" y="1371600"/>
            <a:ext cx="10972800" cy="4572000"/>
          </a:xfrm>
          <a:prstGeom prst="rect">
            <a:avLst/>
          </a:prstGeom>
          <a:noFill/>
        </p:spPr>
        <p:txBody>
          <a:bodyPr wrap="square">
            <a:spAutoFit/>
          </a:bodyPr>
          <a:lstStyle/>
          <a:p>
            <a:pPr>
              <a:spcAft>
                <a:spcPts val="800"/>
              </a:spcAft>
              <a:defRPr sz="1600" b="0">
                <a:solidFill>
                  <a:srgbClr val="212121"/>
                </a:solidFill>
                <a:latin typeface="Calibri"/>
              </a:defRPr>
            </a:pPr>
            <a:r>
              <a:t>What: automated pipeline to find information bottlenecks in LLMs</a:t>
            </a:r>
          </a:p>
          <a:p>
            <a:pPr>
              <a:spcAft>
                <a:spcPts val="800"/>
              </a:spcAft>
              <a:defRPr sz="1600" b="0">
                <a:solidFill>
                  <a:srgbClr val="212121"/>
                </a:solidFill>
                <a:latin typeface="Calibri"/>
              </a:defRPr>
            </a:pPr>
            <a:r>
              <a:t>How: novel backward-BFS traceback through Neuronpedia attribution graphs</a:t>
            </a:r>
          </a:p>
          <a:p>
            <a:pPr>
              <a:spcAft>
                <a:spcPts val="800"/>
              </a:spcAft>
              <a:defRPr sz="1600" b="0">
                <a:solidFill>
                  <a:srgbClr val="212121"/>
                </a:solidFill>
                <a:latin typeface="Calibri"/>
              </a:defRPr>
            </a:pPr>
          </a:p>
          <a:p>
            <a:pPr>
              <a:spcAft>
                <a:spcPts val="800"/>
              </a:spcAft>
              <a:defRPr sz="1600" b="0">
                <a:solidFill>
                  <a:srgbClr val="212121"/>
                </a:solidFill>
                <a:latin typeface="Calibri"/>
              </a:defRPr>
            </a:pPr>
            <a:r>
              <a:t>Finding 1: Bottleneck at 19% depth (GEMMA) vs 33% (QWEN) -&gt; 27x accuracy diff</a:t>
            </a:r>
          </a:p>
          <a:p>
            <a:pPr>
              <a:spcAft>
                <a:spcPts val="800"/>
              </a:spcAft>
              <a:defRPr sz="1600" b="0">
                <a:solidFill>
                  <a:srgbClr val="212121"/>
                </a:solidFill>
                <a:latin typeface="Calibri"/>
              </a:defRPr>
            </a:pPr>
            <a:r>
              <a:t>Finding 2: 79/80 top features are syntactic -- template matching, not knowledge</a:t>
            </a:r>
          </a:p>
          <a:p>
            <a:pPr>
              <a:spcAft>
                <a:spcPts val="800"/>
              </a:spcAft>
              <a:defRPr sz="1600" b="0">
                <a:solidFill>
                  <a:srgbClr val="212121"/>
                </a:solidFill>
                <a:latin typeface="Calibri"/>
              </a:defRPr>
            </a:pPr>
            <a:r>
              <a:t>Finding 3: All outputs share ONE circuit -- shared universal architecture</a:t>
            </a:r>
          </a:p>
          <a:p>
            <a:pPr>
              <a:spcAft>
                <a:spcPts val="800"/>
              </a:spcAft>
              <a:defRPr sz="1600" b="0">
                <a:solidFill>
                  <a:srgbClr val="212121"/>
                </a:solidFill>
                <a:latin typeface="Calibri"/>
              </a:defRPr>
            </a:pPr>
          </a:p>
          <a:p>
            <a:pPr>
              <a:spcAft>
                <a:spcPts val="800"/>
              </a:spcAft>
              <a:defRPr sz="1600" b="0">
                <a:solidFill>
                  <a:srgbClr val="212121"/>
                </a:solidFill>
                <a:latin typeface="Calibri"/>
              </a:defRPr>
            </a:pPr>
            <a:r>
              <a:t>Status: validating with multi-algorithm comparison + semantic taxonomy</a:t>
            </a:r>
          </a:p>
          <a:p>
            <a:pPr>
              <a:spcAft>
                <a:spcPts val="800"/>
              </a:spcAft>
              <a:defRPr sz="1600" b="0">
                <a:solidFill>
                  <a:srgbClr val="212121"/>
                </a:solidFill>
                <a:latin typeface="Calibri"/>
              </a:defRPr>
            </a:pPr>
            <a:r>
              <a:t>Next: causal ablation experiments in weeks 3-4</a:t>
            </a:r>
          </a:p>
          <a:p>
            <a:pPr>
              <a:spcAft>
                <a:spcPts val="800"/>
              </a:spcAft>
              <a:defRPr sz="1600" b="0">
                <a:solidFill>
                  <a:srgbClr val="212121"/>
                </a:solidFill>
                <a:latin typeface="Calibri"/>
              </a:defRPr>
            </a:pPr>
            <a:r>
              <a:t>Ask: validation criteria, ablation priorities, submission target, GPU access</a:t>
            </a:r>
          </a:p>
        </p:txBody>
      </p:sp>
      <p:sp>
        <p:nvSpPr>
          <p:cNvPr id="5" name="TextBox 4"/>
          <p:cNvSpPr txBox="1"/>
          <p:nvPr/>
        </p:nvSpPr>
        <p:spPr>
          <a:xfrm>
            <a:off x="10515600" y="6492240"/>
            <a:ext cx="1371600" cy="274320"/>
          </a:xfrm>
          <a:prstGeom prst="rect">
            <a:avLst/>
          </a:prstGeom>
          <a:noFill/>
        </p:spPr>
        <p:txBody>
          <a:bodyPr wrap="none">
            <a:spAutoFit/>
          </a:bodyPr>
          <a:lstStyle/>
          <a:p>
            <a:pPr algn="r">
              <a:defRPr sz="1000">
                <a:solidFill>
                  <a:srgbClr val="616161"/>
                </a:solidFill>
                <a:latin typeface="Calibri"/>
              </a:defRPr>
            </a:pPr>
            <a:r>
              <a:t>B / 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